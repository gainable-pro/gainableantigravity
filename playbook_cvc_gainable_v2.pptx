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0"/>
            <a:ext cx="6217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3800" b="1">
                <a:solidFill>
                  <a:srgbClr val="FFFFFF"/>
                </a:solidFill>
                <a:latin typeface="Arial"/>
              </a:defRPr>
            </a:pPr>
            <a:r>
              <a:t>Playbook Commercial CVC</a:t>
            </a:r>
          </a:p>
          <a:p>
            <a:pPr>
              <a:spcAft>
                <a:spcPts val="2000"/>
              </a:spcAft>
              <a:defRPr sz="1800" b="1">
                <a:solidFill>
                  <a:srgbClr val="D59B2B"/>
                </a:solidFill>
                <a:latin typeface="Arial"/>
              </a:defRPr>
            </a:pPr>
            <a:r>
              <a:t>Scripts • Argumentaires • Objections • Closing</a:t>
            </a:r>
          </a:p>
          <a:p>
            <a:pPr>
              <a:spcAft>
                <a:spcPts val="2000"/>
              </a:spcAft>
              <a:defRPr sz="1300">
                <a:solidFill>
                  <a:srgbClr val="FFFFFF"/>
                </a:solidFill>
                <a:latin typeface="Arial"/>
              </a:defRPr>
            </a:pPr>
            <a:r>
              <a:t>Le guide opérationnel complet pour convertir les artisans CVC</a:t>
            </a:r>
            <a:br/>
            <a:r>
              <a:t>en partenaires Gainable.fr — de la prospection au paiement Stripe.</a:t>
            </a:r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731520"/>
            <a:ext cx="2377440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731520" y="4754880"/>
            <a:ext cx="2286000" cy="320040"/>
          </a:xfrm>
          <a:prstGeom prst="round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PROSPECTION TÉLÉPHONIQUE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74720" y="4754880"/>
            <a:ext cx="2286000" cy="32004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SOCIAL SELLING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303520" y="4754880"/>
            <a:ext cx="2286000" cy="320040"/>
          </a:xfrm>
          <a:prstGeom prst="roundRect">
            <a:avLst/>
          </a:prstGeom>
          <a:solidFill>
            <a:srgbClr val="D59B2B"/>
          </a:solidFill>
          <a:ln>
            <a:solidFill>
              <a:srgbClr val="D59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CLOSING STRIPE</a:t>
            </a:r>
          </a:p>
        </p:txBody>
      </p:sp>
      <p:pic>
        <p:nvPicPr>
          <p:cNvPr id="7" name="Picture 6" descr="hero-hv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5295" y="0"/>
            <a:ext cx="54864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D59B2B"/>
                </a:solidFill>
                <a:latin typeface="Arial"/>
              </a:defRPr>
            </a:pPr>
            <a:r>
              <a:t>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F2D3D"/>
                </a:solidFill>
                <a:latin typeface="Arial"/>
              </a:defRPr>
            </a:pPr>
            <a:r>
              <a:t>Sommaire du Playbook Commercial CVC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999713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457200" cy="411480"/>
          </a:xfrm>
          <a:prstGeom prst="round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8448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2D3D"/>
                </a:solidFill>
                <a:latin typeface="Arial"/>
              </a:defRPr>
            </a:pPr>
            <a:r>
              <a:t>Comprendre le Prospect Artisan CVC</a:t>
            </a:r>
          </a:p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Les 4 douleurs réelles qui ouvrent la vente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2514600"/>
            <a:ext cx="457200" cy="41148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98448" y="2514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2D3D"/>
                </a:solidFill>
                <a:latin typeface="Arial"/>
              </a:defRPr>
            </a:pPr>
            <a:r>
              <a:t>Pré-Qualification &amp; Diagnostic Préalable</a:t>
            </a:r>
          </a:p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Checklist avant tout appel à froid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474720"/>
            <a:ext cx="457200" cy="411480"/>
          </a:xfrm>
          <a:prstGeom prst="roundRect">
            <a:avLst/>
          </a:prstGeom>
          <a:solidFill>
            <a:srgbClr val="D59B2B"/>
          </a:solidFill>
          <a:ln>
            <a:solidFill>
              <a:srgbClr val="D59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98448" y="3474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2D3D"/>
                </a:solidFill>
                <a:latin typeface="Arial"/>
              </a:defRPr>
            </a:pPr>
            <a:r>
              <a:t>Profiling Psychologique des Artisans</a:t>
            </a:r>
          </a:p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Adapter sa posture aux 3 profils types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434840"/>
            <a:ext cx="457200" cy="411480"/>
          </a:xfrm>
          <a:prstGeom prst="roundRect">
            <a:avLst/>
          </a:prstGeom>
          <a:solidFill>
            <a:srgbClr val="EF4444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44348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2D3D"/>
                </a:solidFill>
                <a:latin typeface="Arial"/>
              </a:defRPr>
            </a:pPr>
            <a:r>
              <a:t>Scripts de Prospection Téléphonique</a:t>
            </a:r>
          </a:p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Accroche, contournement secrétariat, pitch complet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5394960"/>
            <a:ext cx="457200" cy="411480"/>
          </a:xfrm>
          <a:prstGeom prst="round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98448" y="5394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2D3D"/>
                </a:solidFill>
                <a:latin typeface="Arial"/>
              </a:defRPr>
            </a:pPr>
            <a:r>
              <a:t>Social Selling : Instagram &amp; LinkedIn</a:t>
            </a:r>
          </a:p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Scripts DM Instagram + approches LinkedIn trigger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554480"/>
            <a:ext cx="457200" cy="41148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67728" y="15544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2D3D"/>
                </a:solidFill>
                <a:latin typeface="Arial"/>
              </a:defRPr>
            </a:pPr>
            <a:r>
              <a:t>Cadence de Prospection sur 5 Jours</a:t>
            </a:r>
          </a:p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La séquence mixte hebdomadaire avec 50 prospects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2514600"/>
            <a:ext cx="457200" cy="411480"/>
          </a:xfrm>
          <a:prstGeom prst="roundRect">
            <a:avLst/>
          </a:prstGeom>
          <a:solidFill>
            <a:srgbClr val="D59B2B"/>
          </a:solidFill>
          <a:ln>
            <a:solidFill>
              <a:srgbClr val="D59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07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2514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2D3D"/>
                </a:solidFill>
                <a:latin typeface="Arial"/>
              </a:defRPr>
            </a:pPr>
            <a:r>
              <a:t>Argumentaires Clés de Vente</a:t>
            </a:r>
          </a:p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Écoute active, reformulation, anti-plateformes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3474720"/>
            <a:ext cx="457200" cy="411480"/>
          </a:xfrm>
          <a:prstGeom prst="roundRect">
            <a:avLst/>
          </a:prstGeom>
          <a:solidFill>
            <a:srgbClr val="EF4444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08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67728" y="3474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2D3D"/>
                </a:solidFill>
                <a:latin typeface="Arial"/>
              </a:defRPr>
            </a:pPr>
            <a:r>
              <a:t>La Démo d'Impact 5 minutes</a:t>
            </a:r>
          </a:p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Effet WoW IA + Google en direct + Stripe closing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4434840"/>
            <a:ext cx="457200" cy="411480"/>
          </a:xfrm>
          <a:prstGeom prst="round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09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67728" y="44348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2D3D"/>
                </a:solidFill>
                <a:latin typeface="Arial"/>
              </a:defRPr>
            </a:pPr>
            <a:r>
              <a:t>Traitement des Objections</a:t>
            </a:r>
          </a:p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Les 8 objections critiques avec réponses mot pour mot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5394960"/>
            <a:ext cx="457200" cy="41148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67728" y="53949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2D3D"/>
                </a:solidFill>
                <a:latin typeface="Arial"/>
              </a:defRPr>
            </a:pPr>
            <a:r>
              <a:t>Plan d'Attaque Hebdomadaire</a:t>
            </a:r>
          </a:p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Routine du succès en 5 étapes actionnables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6355080"/>
            <a:ext cx="457200" cy="411480"/>
          </a:xfrm>
          <a:prstGeom prst="roundRect">
            <a:avLst/>
          </a:prstGeom>
          <a:solidFill>
            <a:srgbClr val="EF4444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67728" y="63550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2D3D"/>
                </a:solidFill>
                <a:latin typeface="Arial"/>
              </a:defRPr>
            </a:pPr>
            <a:r>
              <a:t>Comparatif Plateformes</a:t>
            </a:r>
          </a:p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Gainable.fr vs Bilik, BNI, Travaux.com, Selocal, PagesJaunes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7315200"/>
            <a:ext cx="457200" cy="411480"/>
          </a:xfrm>
          <a:prstGeom prst="round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67728" y="73152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2D3D"/>
                </a:solidFill>
                <a:latin typeface="Arial"/>
              </a:defRPr>
            </a:pPr>
            <a:r>
              <a:t>L'Écosystème de Visibilité</a:t>
            </a:r>
          </a:p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SEO + Site + Réseaux Sociaux + Google Maps + IA = Maillage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0" y="8275320"/>
            <a:ext cx="457200" cy="41148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13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67728" y="82753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2D3D"/>
                </a:solidFill>
                <a:latin typeface="Arial"/>
              </a:defRPr>
            </a:pPr>
            <a:r>
              <a:t>Les 3 Phases du Maillage</a:t>
            </a:r>
          </a:p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Ancrage → Maillage → Dominance locale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0" y="9235440"/>
            <a:ext cx="457200" cy="411480"/>
          </a:xfrm>
          <a:prstGeom prst="roundRect">
            <a:avLst/>
          </a:prstGeom>
          <a:solidFill>
            <a:srgbClr val="D59B2B"/>
          </a:solidFill>
          <a:ln>
            <a:solidFill>
              <a:srgbClr val="D59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67728" y="92354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2D3D"/>
                </a:solidFill>
                <a:latin typeface="Arial"/>
              </a:defRPr>
            </a:pPr>
            <a:r>
              <a:t>Mindset &amp; État d'Esprit</a:t>
            </a:r>
          </a:p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La conviction, la résilience, le rituel du guerrier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0" y="10195560"/>
            <a:ext cx="457200" cy="411480"/>
          </a:xfrm>
          <a:prstGeom prst="roundRect">
            <a:avLst/>
          </a:prstGeom>
          <a:solidFill>
            <a:srgbClr val="EF4444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Arial"/>
              </a:defRPr>
            </a:pPr>
            <a:r>
              <a:t>15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67728" y="1019556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F2D3D"/>
                </a:solidFill>
                <a:latin typeface="Arial"/>
              </a:defRPr>
            </a:pPr>
            <a:r>
              <a:t>C'est un Marathon, Pas un Sprint</a:t>
            </a:r>
          </a:p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Vision 12 mois — Ligne du temps SEO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D59B2B"/>
                </a:solidFill>
                <a:latin typeface="Arial"/>
              </a:defRPr>
            </a:pPr>
            <a:r>
              <a:t>01 · PSYCHOLOGIE PROSPECT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F2D3D"/>
                </a:solidFill>
                <a:latin typeface="Arial"/>
              </a:defRPr>
            </a:pPr>
            <a:r>
              <a:t>Comprendre son Prospect : Les 4 Douleurs de l'Artisan CVC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999713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1554480"/>
            <a:ext cx="52120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11480" y="1554480"/>
            <a:ext cx="5212080" cy="73152"/>
          </a:xfrm>
          <a:prstGeom prst="rect">
            <a:avLst/>
          </a:prstGeom>
          <a:solidFill>
            <a:srgbClr val="EF4444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664207"/>
            <a:ext cx="4846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EF4444"/>
                </a:solidFill>
                <a:latin typeface="Arial"/>
              </a:defRPr>
            </a:pPr>
            <a:r>
              <a:t>💸  Revente multiple des leads</a:t>
            </a:r>
          </a:p>
          <a:p>
            <a:pPr>
              <a:spcAft>
                <a:spcPts val="500"/>
              </a:spcAft>
              <a:defRPr sz="950">
                <a:solidFill>
                  <a:srgbClr val="64748B"/>
                </a:solidFill>
                <a:latin typeface="Arial"/>
              </a:defRPr>
            </a:pPr>
            <a:r>
              <a:t>Les plateformes (Travaux.com, Effy…) revendent le même prospect à 3-5 concurrents. C'est une guerre des prix qui détruit les marges. L'artisan bat le terrain et finit par brader.</a:t>
            </a:r>
          </a:p>
          <a:p>
            <a:pPr>
              <a:defRPr sz="900" b="1">
                <a:solidFill>
                  <a:srgbClr val="1F2D3D"/>
                </a:solidFill>
                <a:latin typeface="Arial"/>
              </a:defRPr>
            </a:pPr>
            <a:r>
              <a:t>Angle d'attaque : « Chez nous, le client vous appelle vous et vous seul. Zéro concurrent sur votre zone.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63640" y="1554480"/>
            <a:ext cx="52120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1554480"/>
            <a:ext cx="5212080" cy="73152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664207"/>
            <a:ext cx="4846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F97316"/>
                </a:solidFill>
                <a:latin typeface="Arial"/>
              </a:defRPr>
            </a:pPr>
            <a:r>
              <a:t>⏰  Manque de temps digital</a:t>
            </a:r>
          </a:p>
          <a:p>
            <a:pPr>
              <a:spcAft>
                <a:spcPts val="500"/>
              </a:spcAft>
              <a:defRPr sz="950">
                <a:solidFill>
                  <a:srgbClr val="64748B"/>
                </a:solidFill>
                <a:latin typeface="Arial"/>
              </a:defRPr>
            </a:pPr>
            <a:r>
              <a:t>Un artisan passe ses journées sur le chantier. Il n'a ni le temps ni les compétences pour gérer du SEO, des Google Ads ou du contenu web. Il a besoin d'un partenaire clé en main.</a:t>
            </a:r>
          </a:p>
          <a:p>
            <a:pPr>
              <a:defRPr sz="900" b="1">
                <a:solidFill>
                  <a:srgbClr val="1F2D3D"/>
                </a:solidFill>
                <a:latin typeface="Arial"/>
              </a:defRPr>
            </a:pPr>
            <a:r>
              <a:t>Angle d'attaque : « Notre IA rédige vos articles SEO en 2 minutes. Vous n'avez rien à écrire. 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4069080"/>
            <a:ext cx="52120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4069080"/>
            <a:ext cx="5212080" cy="73152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4178808"/>
            <a:ext cx="4846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3B82F6"/>
                </a:solidFill>
                <a:latin typeface="Arial"/>
              </a:defRPr>
            </a:pPr>
            <a:r>
              <a:t>💰  Coûts publicitaires exorbitants</a:t>
            </a:r>
          </a:p>
          <a:p>
            <a:pPr>
              <a:spcAft>
                <a:spcPts val="500"/>
              </a:spcAft>
              <a:defRPr sz="950">
                <a:solidFill>
                  <a:srgbClr val="64748B"/>
                </a:solidFill>
                <a:latin typeface="Arial"/>
              </a:defRPr>
            </a:pPr>
            <a:r>
              <a:t>Sans expertise, Google Ads coûte entre 40 € et 80 € HT par lead climatisation, qu'il soit signé ou non. Un abonnement fixe est bien plus prévisible et rentable.</a:t>
            </a:r>
          </a:p>
          <a:p>
            <a:pPr>
              <a:defRPr sz="900" b="1">
                <a:solidFill>
                  <a:srgbClr val="1F2D3D"/>
                </a:solidFill>
                <a:latin typeface="Arial"/>
              </a:defRPr>
            </a:pPr>
            <a:r>
              <a:t>Angle d'attaque : « Notre abonnement à 850 €/an, c'est 2,33 €/jour. 1 seul chantier gainable (8-15k€) le rentabilise 10 ans. 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4069080"/>
            <a:ext cx="5212080" cy="22402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4069080"/>
            <a:ext cx="5212080" cy="7315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178808"/>
            <a:ext cx="48463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200" b="1">
                <a:solidFill>
                  <a:srgbClr val="10B981"/>
                </a:solidFill>
                <a:latin typeface="Arial"/>
              </a:defRPr>
            </a:pPr>
            <a:r>
              <a:t>🏝️  Isolement commercial (TPE vs. Grands groupes)</a:t>
            </a:r>
          </a:p>
          <a:p>
            <a:pPr>
              <a:spcAft>
                <a:spcPts val="500"/>
              </a:spcAft>
              <a:defRPr sz="950">
                <a:solidFill>
                  <a:srgbClr val="64748B"/>
                </a:solidFill>
                <a:latin typeface="Arial"/>
              </a:defRPr>
            </a:pPr>
            <a:r>
              <a:t>Face à Maclem, IZI EDF ou Engie, une TPE seule est invisible sur Google. Elle a besoin de l'autorité d'une plateforme nationale pour s'imposer localement.</a:t>
            </a:r>
          </a:p>
          <a:p>
            <a:pPr>
              <a:defRPr sz="900" b="1">
                <a:solidFill>
                  <a:srgbClr val="1F2D3D"/>
                </a:solidFill>
                <a:latin typeface="Arial"/>
              </a:defRPr>
            </a:pPr>
            <a:r>
              <a:t>Angle d'attaque : « Gainable.fr, c'est +58 000 pages référencées. Vous profitez de notre autorité pour dominer votre commune. »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D59B2B"/>
                </a:solidFill>
                <a:latin typeface="Arial"/>
              </a:defRPr>
            </a:pPr>
            <a:r>
              <a:t>02 · DIAGNOSTIC PRÉALABLE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F2D3D"/>
                </a:solidFill>
                <a:latin typeface="Arial"/>
              </a:defRPr>
            </a:pPr>
            <a:r>
              <a:t>Pré-Qualification : La Checklist Avant Tout Appel à Froid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999713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81328"/>
            <a:ext cx="3200400" cy="292608"/>
          </a:xfrm>
          <a:prstGeom prst="roundRect">
            <a:avLst/>
          </a:prstGeom>
          <a:solidFill>
            <a:srgbClr val="1F2D3D"/>
          </a:solidFill>
          <a:ln>
            <a:solidFill>
              <a:srgbClr val="1F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⚡ RÈGLE D'OR : Ne jamais appeler à l'aveugle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920240"/>
            <a:ext cx="53949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1F2D3D"/>
                </a:solidFill>
                <a:latin typeface="Arial"/>
              </a:defRPr>
            </a:pPr>
            <a:r>
              <a:t>✅  Présence web basique</a:t>
            </a:r>
          </a:p>
          <a:p>
            <a:pPr>
              <a:spcAft>
                <a:spcPts val="300"/>
              </a:spcAft>
              <a:defRPr sz="950">
                <a:solidFill>
                  <a:srgbClr val="64748B"/>
                </a:solidFill>
                <a:latin typeface="Arial"/>
              </a:defRPr>
            </a:pPr>
            <a:r>
              <a:t>Cherchez le nom de l'entreprise sur Google. Site responsive ? Avis GMB récents ? Un site daté = point d'appui clé pour votre pitch.</a:t>
            </a:r>
          </a:p>
          <a:p>
            <a:pPr>
              <a:defRPr sz="900" b="1">
                <a:solidFill>
                  <a:srgbClr val="10B981"/>
                </a:solidFill>
                <a:latin typeface="Arial"/>
              </a:defRPr>
            </a:pPr>
            <a:r>
              <a:t>→ Commande rapide : tapez le nom de l'entreprise + ville. Si pas de résultat dans les 3 premiers → cible parfaite.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3310128"/>
            <a:ext cx="53949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3447288"/>
            <a:ext cx="53949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1F2D3D"/>
                </a:solidFill>
                <a:latin typeface="Arial"/>
              </a:defRPr>
            </a:pPr>
            <a:r>
              <a:t>✅  Audit SEO de la localité</a:t>
            </a:r>
          </a:p>
          <a:p>
            <a:pPr>
              <a:spcAft>
                <a:spcPts val="300"/>
              </a:spcAft>
              <a:defRPr sz="950">
                <a:solidFill>
                  <a:srgbClr val="64748B"/>
                </a:solidFill>
                <a:latin typeface="Arial"/>
              </a:defRPr>
            </a:pPr>
            <a:r>
              <a:t>Recherchez 'climatisation gainable + [ville de l'artisan]'. Gainable.fr apparaît ? Montrez-lui qu'en adhérant, il occupe CETTE place.</a:t>
            </a:r>
          </a:p>
          <a:p>
            <a:pPr>
              <a:defRPr sz="900" b="1">
                <a:solidFill>
                  <a:srgbClr val="10B981"/>
                </a:solidFill>
                <a:latin typeface="Arial"/>
              </a:defRPr>
            </a:pPr>
            <a:r>
              <a:t>→ Si son site n'apparaît pas page 1 sur sa propre ville → argument choc : il est invisible pour ses clients locaux.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4837176"/>
            <a:ext cx="539496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4974336"/>
            <a:ext cx="53949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1F2D3D"/>
                </a:solidFill>
                <a:latin typeface="Arial"/>
              </a:defRPr>
            </a:pPr>
            <a:r>
              <a:t>✅  Diagnostic Google Ads</a:t>
            </a:r>
          </a:p>
          <a:p>
            <a:pPr>
              <a:spcAft>
                <a:spcPts val="300"/>
              </a:spcAft>
              <a:defRPr sz="950">
                <a:solidFill>
                  <a:srgbClr val="64748B"/>
                </a:solidFill>
                <a:latin typeface="Arial"/>
              </a:defRPr>
            </a:pPr>
            <a:r>
              <a:t>Y a-t-il un badge 'Sponsorisé' sur ses mots-clés ? Oui → il est conscient du digital mais paye trop cher par lead.</a:t>
            </a:r>
          </a:p>
          <a:p>
            <a:pPr>
              <a:defRPr sz="900" b="1">
                <a:solidFill>
                  <a:srgbClr val="10B981"/>
                </a:solidFill>
                <a:latin typeface="Arial"/>
              </a:defRPr>
            </a:pPr>
            <a:r>
              <a:t>→ Google Ads climatisation gainable coûte entre 3 € et 12 € par clic. Notre abonnement fixe est bien plus rentable.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63640" y="1920240"/>
            <a:ext cx="53949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1F2D3D"/>
                </a:solidFill>
                <a:latin typeface="Arial"/>
              </a:defRPr>
            </a:pPr>
            <a:r>
              <a:t>✅  Vérification Google Maps</a:t>
            </a:r>
          </a:p>
          <a:p>
            <a:pPr>
              <a:spcAft>
                <a:spcPts val="300"/>
              </a:spcAft>
              <a:defRPr sz="950">
                <a:solidFill>
                  <a:srgbClr val="64748B"/>
                </a:solidFill>
                <a:latin typeface="Arial"/>
              </a:defRPr>
            </a:pPr>
            <a:r>
              <a:t>Sa note GMB ? Moins de 3,5 étoiles ou moins de 10 avis → opportunité de valoriser son sérieux via Gainable.</a:t>
            </a:r>
          </a:p>
          <a:p>
            <a:pPr>
              <a:defRPr sz="900" b="1">
                <a:solidFill>
                  <a:srgbClr val="10B981"/>
                </a:solidFill>
                <a:latin typeface="Arial"/>
              </a:defRPr>
            </a:pPr>
            <a:r>
              <a:t>→ Un artisan RGE avec 4,8★ et 50 avis mais invisible Google est une cible prioritaire : le produit est là, il manque la visibilité.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3310128"/>
            <a:ext cx="5394959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3447288"/>
            <a:ext cx="53949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1F2D3D"/>
                </a:solidFill>
                <a:latin typeface="Arial"/>
              </a:defRPr>
            </a:pPr>
            <a:r>
              <a:t>✅  Audit rapide site:domaine.com</a:t>
            </a:r>
          </a:p>
          <a:p>
            <a:pPr>
              <a:spcAft>
                <a:spcPts val="300"/>
              </a:spcAft>
              <a:defRPr sz="950">
                <a:solidFill>
                  <a:srgbClr val="64748B"/>
                </a:solidFill>
                <a:latin typeface="Arial"/>
              </a:defRPr>
            </a:pPr>
            <a:r>
              <a:t>Tapez 'site:son-site.com' dans Google. Moins de 10 pages indexées → son site est quasi-invisible pour les moteurs.</a:t>
            </a:r>
          </a:p>
          <a:p>
            <a:pPr>
              <a:defRPr sz="900" b="1">
                <a:solidFill>
                  <a:srgbClr val="10B981"/>
                </a:solidFill>
                <a:latin typeface="Arial"/>
              </a:defRPr>
            </a:pPr>
            <a:r>
              <a:t>→ Gainable.fr = +58 000 pages indexées. L'effet d'autorité est immédiat dès l'adhésion.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63640" y="4837176"/>
            <a:ext cx="5394959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4974336"/>
            <a:ext cx="53949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50" b="1">
                <a:solidFill>
                  <a:srgbClr val="1F2D3D"/>
                </a:solidFill>
                <a:latin typeface="Arial"/>
              </a:defRPr>
            </a:pPr>
            <a:r>
              <a:t>✅  Détection du profil (APE + Dirigeant)</a:t>
            </a:r>
          </a:p>
          <a:p>
            <a:pPr>
              <a:spcAft>
                <a:spcPts val="300"/>
              </a:spcAft>
              <a:defRPr sz="950">
                <a:solidFill>
                  <a:srgbClr val="64748B"/>
                </a:solidFill>
                <a:latin typeface="Arial"/>
              </a:defRPr>
            </a:pPr>
            <a:r>
              <a:t>Code APE 4322A (plomberie-chauffage), 4322B (installation CVC), 4339Z (travaux isolation). Dirigeant = bonne cible.</a:t>
            </a:r>
          </a:p>
          <a:p>
            <a:pPr>
              <a:defRPr sz="900" b="1">
                <a:solidFill>
                  <a:srgbClr val="10B981"/>
                </a:solidFill>
                <a:latin typeface="Arial"/>
              </a:defRPr>
            </a:pPr>
            <a:r>
              <a:t>→ LinkedIn ou Societe.com pour valider : solo artisan, PME 5-20 salariés ou bureau d'études. Adapter le pitch.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D59B2B"/>
                </a:solidFill>
                <a:latin typeface="Arial"/>
              </a:defRPr>
            </a:pPr>
            <a:r>
              <a:t>03 · PSYCHOLOGIE DE VENTE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F2D3D"/>
                </a:solidFill>
                <a:latin typeface="Arial"/>
              </a:defRPr>
            </a:pPr>
            <a:r>
              <a:t>Profiling Psychologique : Les 3 Profils Types de l'Artisan CVC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999713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20040" y="1554480"/>
            <a:ext cx="3657600" cy="5120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554480"/>
            <a:ext cx="3657600" cy="1005840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🔨  L'Artisan sur Chantier</a:t>
            </a:r>
          </a:p>
          <a:p>
            <a:pPr>
              <a:defRPr sz="1000">
                <a:solidFill>
                  <a:srgbClr val="FFFFC8"/>
                </a:solidFill>
                <a:latin typeface="Arial"/>
              </a:defRPr>
            </a:pPr>
            <a:r>
              <a:t>Le Technicien Pressé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06039"/>
            <a:ext cx="3383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50" b="1">
                <a:solidFill>
                  <a:srgbClr val="F97316"/>
                </a:solidFill>
                <a:latin typeface="Arial"/>
              </a:defRPr>
            </a:pPr>
            <a:r>
              <a:t>Caractéristiques :</a:t>
            </a:r>
          </a:p>
          <a:p>
            <a:pPr>
              <a:spcAft>
                <a:spcPts val="200"/>
              </a:spcAft>
              <a:defRPr sz="900">
                <a:solidFill>
                  <a:srgbClr val="64748B"/>
                </a:solidFill>
                <a:latin typeface="Arial"/>
              </a:defRPr>
            </a:pPr>
            <a:r>
              <a:t>• Il a du bruit, est fatigué, gère tout seul.</a:t>
            </a:r>
          </a:p>
          <a:p>
            <a:pPr>
              <a:spcAft>
                <a:spcPts val="200"/>
              </a:spcAft>
              <a:defRPr sz="900">
                <a:solidFill>
                  <a:srgbClr val="64748B"/>
                </a:solidFill>
                <a:latin typeface="Arial"/>
              </a:defRPr>
            </a:pPr>
            <a:r>
              <a:t>• Délai d'attention : max 45 secondes.</a:t>
            </a:r>
          </a:p>
          <a:p>
            <a:pPr>
              <a:spcAft>
                <a:spcPts val="200"/>
              </a:spcAft>
              <a:defRPr sz="900">
                <a:solidFill>
                  <a:srgbClr val="64748B"/>
                </a:solidFill>
                <a:latin typeface="Arial"/>
              </a:defRPr>
            </a:pPr>
            <a:r>
              <a:t>• Il raccroche si c'est trop long.</a:t>
            </a:r>
          </a:p>
          <a:p>
            <a:br/>
            <a:pPr>
              <a:spcAft>
                <a:spcPts val="400"/>
              </a:spcAft>
              <a:defRPr sz="950" b="1">
                <a:solidFill>
                  <a:srgbClr val="F97316"/>
                </a:solidFill>
                <a:latin typeface="Arial"/>
              </a:defRPr>
            </a:pPr>
            <a:r>
              <a:t>Posture : Ultra-direct + jargon technique</a:t>
            </a:r>
          </a:p>
          <a:p>
            <a:pPr>
              <a:spcAft>
                <a:spcPts val="300"/>
              </a:spcAft>
              <a:defRPr sz="950" b="1">
                <a:solidFill>
                  <a:srgbClr val="1F2D3D"/>
                </a:solidFill>
                <a:latin typeface="Arial"/>
              </a:defRPr>
            </a:pPr>
            <a:r>
              <a:t>Scripts clés :</a:t>
            </a:r>
          </a:p>
          <a:p>
            <a:pPr>
              <a:spcAft>
                <a:spcPts val="300"/>
              </a:spcAft>
              <a:defRPr sz="850">
                <a:solidFill>
                  <a:srgbClr val="1F2D3D"/>
                </a:solidFill>
                <a:latin typeface="Arial"/>
              </a:defRPr>
            </a:pPr>
            <a:r>
              <a:t>💬 « Je fais court, je sais que vous êtes sur un chantier. »</a:t>
            </a:r>
          </a:p>
          <a:p>
            <a:pPr>
              <a:spcAft>
                <a:spcPts val="300"/>
              </a:spcAft>
              <a:defRPr sz="850">
                <a:solidFill>
                  <a:srgbClr val="1F2D3D"/>
                </a:solidFill>
                <a:latin typeface="Arial"/>
              </a:defRPr>
            </a:pPr>
            <a:r>
              <a:t>💬 « Vous posez plutôt du Daikin ou du Mitsubishi pour le gainable ? »</a:t>
            </a:r>
          </a:p>
          <a:p>
            <a:pPr>
              <a:spcAft>
                <a:spcPts val="300"/>
              </a:spcAft>
              <a:defRPr sz="850">
                <a:solidFill>
                  <a:srgbClr val="1F2D3D"/>
                </a:solidFill>
                <a:latin typeface="Arial"/>
              </a:defRPr>
            </a:pPr>
            <a:r>
              <a:t>💬 « On a une demande exclusive sur [Ville], dispo 2 min ce soir ? 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59" y="1554480"/>
            <a:ext cx="3657600" cy="5120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51959" y="1554480"/>
            <a:ext cx="3657600" cy="1005840"/>
          </a:xfrm>
          <a:prstGeom prst="rect">
            <a:avLst/>
          </a:prstGeom>
          <a:solidFill>
            <a:srgbClr val="EF4444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0" y="160020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😤  L'Artisan Réticent</a:t>
            </a:r>
          </a:p>
          <a:p>
            <a:pPr>
              <a:defRPr sz="1000">
                <a:solidFill>
                  <a:srgbClr val="FFFFC8"/>
                </a:solidFill>
                <a:latin typeface="Arial"/>
              </a:defRPr>
            </a:pPr>
            <a:r>
              <a:t>Le Déçu du 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606039"/>
            <a:ext cx="3383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50" b="1">
                <a:solidFill>
                  <a:srgbClr val="EF4444"/>
                </a:solidFill>
                <a:latin typeface="Arial"/>
              </a:defRPr>
            </a:pPr>
            <a:r>
              <a:t>Caractéristiques :</a:t>
            </a:r>
          </a:p>
          <a:p>
            <a:pPr>
              <a:spcAft>
                <a:spcPts val="200"/>
              </a:spcAft>
              <a:defRPr sz="900">
                <a:solidFill>
                  <a:srgbClr val="64748B"/>
                </a:solidFill>
                <a:latin typeface="Arial"/>
              </a:defRPr>
            </a:pPr>
            <a:r>
              <a:t>• A déjà payé des sites inutiles.</a:t>
            </a:r>
          </a:p>
          <a:p>
            <a:pPr>
              <a:spcAft>
                <a:spcPts val="200"/>
              </a:spcAft>
              <a:defRPr sz="900">
                <a:solidFill>
                  <a:srgbClr val="64748B"/>
                </a:solidFill>
                <a:latin typeface="Arial"/>
              </a:defRPr>
            </a:pPr>
            <a:r>
              <a:t>• S'est fait piéger par des engagements 36-48 mois.</a:t>
            </a:r>
          </a:p>
          <a:p>
            <a:pPr>
              <a:spcAft>
                <a:spcPts val="200"/>
              </a:spcAft>
              <a:defRPr sz="900">
                <a:solidFill>
                  <a:srgbClr val="64748B"/>
                </a:solidFill>
                <a:latin typeface="Arial"/>
              </a:defRPr>
            </a:pPr>
            <a:r>
              <a:t>• Méfiant par défaut envers tout commercial.</a:t>
            </a:r>
          </a:p>
          <a:p>
            <a:br/>
            <a:pPr>
              <a:spcAft>
                <a:spcPts val="400"/>
              </a:spcAft>
              <a:defRPr sz="950" b="1">
                <a:solidFill>
                  <a:srgbClr val="EF4444"/>
                </a:solidFill>
                <a:latin typeface="Arial"/>
              </a:defRPr>
            </a:pPr>
            <a:r>
              <a:t>Posture : Empathie radicale + transparence totale</a:t>
            </a:r>
          </a:p>
          <a:p>
            <a:pPr>
              <a:spcAft>
                <a:spcPts val="300"/>
              </a:spcAft>
              <a:defRPr sz="950" b="1">
                <a:solidFill>
                  <a:srgbClr val="1F2D3D"/>
                </a:solidFill>
                <a:latin typeface="Arial"/>
              </a:defRPr>
            </a:pPr>
            <a:r>
              <a:t>Scripts clés :</a:t>
            </a:r>
          </a:p>
          <a:p>
            <a:pPr>
              <a:spcAft>
                <a:spcPts val="300"/>
              </a:spcAft>
              <a:defRPr sz="850">
                <a:solidFill>
                  <a:srgbClr val="1F2D3D"/>
                </a:solidFill>
                <a:latin typeface="Arial"/>
              </a:defRPr>
            </a:pPr>
            <a:r>
              <a:t>💬 « Vous avez 100% raison de vous méfier du web. »</a:t>
            </a:r>
          </a:p>
          <a:p>
            <a:pPr>
              <a:spcAft>
                <a:spcPts val="300"/>
              </a:spcAft>
              <a:defRPr sz="850">
                <a:solidFill>
                  <a:srgbClr val="1F2D3D"/>
                </a:solidFill>
                <a:latin typeface="Arial"/>
              </a:defRPr>
            </a:pPr>
            <a:r>
              <a:t>💬 « C'est pour ça qu'on fait un tarif fixe annuel, sans engagement abusif de 3 ans. »</a:t>
            </a:r>
          </a:p>
          <a:p>
            <a:pPr>
              <a:spcAft>
                <a:spcPts val="300"/>
              </a:spcAft>
              <a:defRPr sz="850">
                <a:solidFill>
                  <a:srgbClr val="1F2D3D"/>
                </a:solidFill>
                <a:latin typeface="Arial"/>
              </a:defRPr>
            </a:pPr>
            <a:r>
              <a:t>💬 « Gainable.fr, c'est pas une plateforme de leads. C'est une vitrine exclusive.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83879" y="1554480"/>
            <a:ext cx="3657600" cy="5120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183879" y="1554480"/>
            <a:ext cx="3657600" cy="100584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60020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👔  La PME CVC Structurée</a:t>
            </a:r>
          </a:p>
          <a:p>
            <a:pPr>
              <a:defRPr sz="1000">
                <a:solidFill>
                  <a:srgbClr val="FFFFC8"/>
                </a:solidFill>
                <a:latin typeface="Arial"/>
              </a:defRPr>
            </a:pPr>
            <a:r>
              <a:t>Le Dirigeant au Bureau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2606039"/>
            <a:ext cx="338328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950" b="1">
                <a:solidFill>
                  <a:srgbClr val="3B82F6"/>
                </a:solidFill>
                <a:latin typeface="Arial"/>
              </a:defRPr>
            </a:pPr>
            <a:r>
              <a:t>Caractéristiques :</a:t>
            </a:r>
          </a:p>
          <a:p>
            <a:pPr>
              <a:spcAft>
                <a:spcPts val="200"/>
              </a:spcAft>
              <a:defRPr sz="900">
                <a:solidFill>
                  <a:srgbClr val="64748B"/>
                </a:solidFill>
                <a:latin typeface="Arial"/>
              </a:defRPr>
            </a:pPr>
            <a:r>
              <a:t>• Ne pose plus lui-même, gère des équipes.</a:t>
            </a:r>
          </a:p>
          <a:p>
            <a:pPr>
              <a:spcAft>
                <a:spcPts val="200"/>
              </a:spcAft>
              <a:defRPr sz="900">
                <a:solidFill>
                  <a:srgbClr val="64748B"/>
                </a:solidFill>
                <a:latin typeface="Arial"/>
              </a:defRPr>
            </a:pPr>
            <a:r>
              <a:t>• Sensible au ROI, au SEO et à l'autorité.</a:t>
            </a:r>
          </a:p>
          <a:p>
            <a:pPr>
              <a:spcAft>
                <a:spcPts val="200"/>
              </a:spcAft>
              <a:defRPr sz="900">
                <a:solidFill>
                  <a:srgbClr val="64748B"/>
                </a:solidFill>
                <a:latin typeface="Arial"/>
              </a:defRPr>
            </a:pPr>
            <a:r>
              <a:t>• Cherche à structurer son acquisition.</a:t>
            </a:r>
          </a:p>
          <a:p>
            <a:br/>
            <a:pPr>
              <a:spcAft>
                <a:spcPts val="400"/>
              </a:spcAft>
              <a:defRPr sz="950" b="1">
                <a:solidFill>
                  <a:srgbClr val="3B82F6"/>
                </a:solidFill>
                <a:latin typeface="Arial"/>
              </a:defRPr>
            </a:pPr>
            <a:r>
              <a:t>Posture : Professionnelle + ROI sémantique</a:t>
            </a:r>
          </a:p>
          <a:p>
            <a:pPr>
              <a:spcAft>
                <a:spcPts val="300"/>
              </a:spcAft>
              <a:defRPr sz="950" b="1">
                <a:solidFill>
                  <a:srgbClr val="1F2D3D"/>
                </a:solidFill>
                <a:latin typeface="Arial"/>
              </a:defRPr>
            </a:pPr>
            <a:r>
              <a:t>Scripts clés :</a:t>
            </a:r>
          </a:p>
          <a:p>
            <a:pPr>
              <a:spcAft>
                <a:spcPts val="300"/>
              </a:spcAft>
              <a:defRPr sz="850">
                <a:solidFill>
                  <a:srgbClr val="1F2D3D"/>
                </a:solidFill>
                <a:latin typeface="Arial"/>
              </a:defRPr>
            </a:pPr>
            <a:r>
              <a:t>💬 « Nous renforçons l'autorité sémantique locale de votre PME. »</a:t>
            </a:r>
          </a:p>
          <a:p>
            <a:pPr>
              <a:spcAft>
                <a:spcPts val="300"/>
              </a:spcAft>
              <a:defRPr sz="850">
                <a:solidFill>
                  <a:srgbClr val="1F2D3D"/>
                </a:solidFill>
                <a:latin typeface="Arial"/>
              </a:defRPr>
            </a:pPr>
            <a:r>
              <a:t>💬 « Vos concurrents de [Ville] sont déjà sur la plateforme. »</a:t>
            </a:r>
          </a:p>
          <a:p>
            <a:pPr>
              <a:spcAft>
                <a:spcPts val="300"/>
              </a:spcAft>
              <a:defRPr sz="850">
                <a:solidFill>
                  <a:srgbClr val="1F2D3D"/>
                </a:solidFill>
                <a:latin typeface="Arial"/>
              </a:defRPr>
            </a:pPr>
            <a:r>
              <a:t>💬 « Je vous prépare une analyse de votre positionnement vs. vos 3 concurrents ? 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D59B2B"/>
                </a:solidFill>
                <a:latin typeface="Arial"/>
              </a:defRPr>
            </a:pPr>
            <a:r>
              <a:t>04 · SCRIPTS PHONING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F2D3D"/>
                </a:solidFill>
                <a:latin typeface="Arial"/>
              </a:defRPr>
            </a:pPr>
            <a:r>
              <a:t>Scripts de Prospection Téléphonique — Mot pour Mot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999713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EF4444"/>
                </a:solidFill>
                <a:latin typeface="Arial"/>
              </a:defRPr>
            </a:pPr>
            <a:r>
              <a:t>🚧 Contourner le Barrage Secrétariat</a:t>
            </a:r>
          </a:p>
          <a:p>
            <a:pPr>
              <a:spcAft>
                <a:spcPts val="500"/>
              </a:spcAft>
              <a:defRPr sz="1000">
                <a:latin typeface="Arial"/>
              </a:defRPr>
            </a:pPr>
            <a:r>
              <a:rPr b="1">
                <a:solidFill>
                  <a:srgbClr val="1F2D3D"/>
                </a:solidFill>
              </a:rPr>
              <a:t>❌ À ne JAMAIS dire :  </a:t>
            </a:r>
            <a:r>
              <a:rPr b="0">
                <a:solidFill>
                  <a:srgbClr val="64748B"/>
                </a:solidFill>
              </a:rPr>
              <a:t>« Je vous appelle pour un partenariat » ou « C'est au sujet du site internet »</a:t>
            </a:r>
          </a:p>
          <a:p>
            <a:pPr>
              <a:spcAft>
                <a:spcPts val="500"/>
              </a:spcAft>
              <a:defRPr sz="1000">
                <a:latin typeface="Arial"/>
              </a:defRPr>
            </a:pPr>
            <a:r>
              <a:rPr b="1">
                <a:solidFill>
                  <a:srgbClr val="1F2D3D"/>
                </a:solidFill>
              </a:rPr>
              <a:t>✅ Formule qui passe :  </a:t>
            </a:r>
            <a:r>
              <a:rPr b="0">
                <a:solidFill>
                  <a:srgbClr val="64748B"/>
                </a:solidFill>
              </a:rPr>
              <a:t>« C'est au sujet d'un gainable » → La secrétaire pense à un client chaud qui veut un devis.</a:t>
            </a:r>
          </a:p>
          <a:p>
            <a:pPr>
              <a:spcAft>
                <a:spcPts val="500"/>
              </a:spcAft>
              <a:defRPr sz="1000">
                <a:latin typeface="Arial"/>
              </a:defRPr>
            </a:pPr>
            <a:r>
              <a:rPr b="1">
                <a:solidFill>
                  <a:srgbClr val="1F2D3D"/>
                </a:solidFill>
              </a:rPr>
              <a:t>✅ Variante :  </a:t>
            </a:r>
            <a:r>
              <a:rPr b="0">
                <a:solidFill>
                  <a:srgbClr val="64748B"/>
                </a:solidFill>
              </a:rPr>
              <a:t>« C'est par rapport à un dossier d'installation gainable sur [Ville]. »</a:t>
            </a:r>
          </a:p>
          <a:p>
            <a:pPr>
              <a:spcAft>
                <a:spcPts val="500"/>
              </a:spcAft>
              <a:defRPr sz="1000">
                <a:latin typeface="Arial"/>
              </a:defRPr>
            </a:pPr>
            <a:r>
              <a:rPr b="1">
                <a:solidFill>
                  <a:srgbClr val="1F2D3D"/>
                </a:solidFill>
              </a:rPr>
              <a:t>✅ Si on vous demande votre société :  </a:t>
            </a:r>
            <a:r>
              <a:rPr b="0">
                <a:solidFill>
                  <a:srgbClr val="64748B"/>
                </a:solidFill>
              </a:rPr>
              <a:t>« Je suis de Gainable.fr, c'est un réseau d'installateurs partenaires. »</a:t>
            </a:r>
          </a:p>
          <a:p>
            <a:br/>
            <a:pPr>
              <a:spcAft>
                <a:spcPts val="800"/>
              </a:spcAft>
              <a:defRPr sz="1200" b="1">
                <a:solidFill>
                  <a:srgbClr val="3B82F6"/>
                </a:solidFill>
                <a:latin typeface="Arial"/>
              </a:defRPr>
            </a:pPr>
            <a:r>
              <a:t>📞 Script d'Accroche (Gérant décroche)</a:t>
            </a:r>
          </a:p>
          <a:p>
            <a:pPr>
              <a:spcAft>
                <a:spcPts val="300"/>
              </a:spcAft>
              <a:defRPr sz="1000" b="0">
                <a:solidFill>
                  <a:srgbClr val="1F2D3D"/>
                </a:solidFill>
                <a:latin typeface="Arial"/>
              </a:defRPr>
            </a:pPr>
            <a:r>
              <a:t>« Bonjour [Prénom], c'est [Votre Prénom] de Gainable.fr. »</a:t>
            </a:r>
          </a:p>
          <a:p>
            <a:pPr>
              <a:spcAft>
                <a:spcPts val="300"/>
              </a:spcAft>
              <a:defRPr sz="1000" b="0">
                <a:solidFill>
                  <a:srgbClr val="1F2D3D"/>
                </a:solidFill>
                <a:latin typeface="Arial"/>
              </a:defRPr>
            </a:pPr>
            <a:r>
              <a:t>« Je serai rapide. On gère un réseau d'installateurs CVC partenaires exclusifs. »</a:t>
            </a:r>
          </a:p>
          <a:p>
            <a:pPr>
              <a:spcAft>
                <a:spcPts val="300"/>
              </a:spcAft>
              <a:defRPr sz="1000" b="0">
                <a:solidFill>
                  <a:srgbClr val="1F2D3D"/>
                </a:solidFill>
                <a:latin typeface="Arial"/>
              </a:defRPr>
            </a:pPr>
            <a:r>
              <a:t>« J'ai regardé votre présence sur Google ce matin — vous n'apparaissez pas »</a:t>
            </a:r>
          </a:p>
          <a:p>
            <a:pPr>
              <a:spcAft>
                <a:spcPts val="300"/>
              </a:spcAft>
              <a:defRPr sz="1000">
                <a:solidFill>
                  <a:srgbClr val="64748B"/>
                </a:solidFill>
                <a:latin typeface="Arial"/>
              </a:defRPr>
            </a:pPr>
            <a:r>
              <a:t>  « sur 'gainable [Ville]' alors que des chantiers à 10-15k€ se signent sur ces recherches. »</a:t>
            </a:r>
          </a:p>
          <a:p>
            <a:pPr>
              <a:spcAft>
                <a:spcPts val="300"/>
              </a:spcAft>
              <a:defRPr sz="1000" b="0">
                <a:solidFill>
                  <a:srgbClr val="1F2D3D"/>
                </a:solidFill>
                <a:latin typeface="Arial"/>
              </a:defRPr>
            </a:pPr>
            <a:r>
              <a:t>« On a une place disponible sur votre secteur. Ça prend 5 min pour vous montrer. »</a:t>
            </a:r>
          </a:p>
          <a:p>
            <a:pPr>
              <a:spcAft>
                <a:spcPts val="300"/>
              </a:spcAft>
              <a:defRPr sz="1000" b="0">
                <a:solidFill>
                  <a:srgbClr val="1F2D3D"/>
                </a:solidFill>
                <a:latin typeface="Arial"/>
              </a:defRPr>
            </a:pPr>
            <a:r>
              <a:t>« Vous êtes dispo quand cette semaine ? »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474720"/>
            <a:ext cx="548640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55448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0B981"/>
                </a:solidFill>
                <a:latin typeface="Arial"/>
              </a:defRPr>
            </a:pPr>
            <a:r>
              <a:t>📋 Script Long — Qualification Complète (3 min)</a:t>
            </a:r>
          </a:p>
          <a:p>
            <a:pPr>
              <a:spcAft>
                <a:spcPts val="500"/>
              </a:spcAft>
              <a:defRPr sz="1000">
                <a:latin typeface="Arial"/>
              </a:defRPr>
            </a:pPr>
            <a:r>
              <a:rPr b="1">
                <a:solidFill>
                  <a:srgbClr val="1F2D3D"/>
                </a:solidFill>
              </a:rPr>
              <a:t>  INTRO :  </a:t>
            </a:r>
            <a:r>
              <a:rPr b="0">
                <a:solidFill>
                  <a:srgbClr val="64748B"/>
                </a:solidFill>
              </a:rPr>
              <a:t>« Vous installez principalement du gainable ou vous faites aussi du split mural ? »</a:t>
            </a:r>
          </a:p>
          <a:p>
            <a:pPr>
              <a:spcAft>
                <a:spcPts val="500"/>
              </a:spcAft>
              <a:defRPr sz="1000">
                <a:latin typeface="Arial"/>
              </a:defRPr>
            </a:pPr>
            <a:r>
              <a:rPr b="1">
                <a:solidFill>
                  <a:srgbClr val="1F2D3D"/>
                </a:solidFill>
              </a:rPr>
              <a:t>  ÉCOUTE :  </a:t>
            </a:r>
            <a:r>
              <a:rPr b="0">
                <a:solidFill>
                  <a:srgbClr val="64748B"/>
                </a:solidFill>
              </a:rPr>
              <a:t>Laissez-le parler. Notez les marques (Daikin, Mitsubishi, Fujitsu), les zones, les volumes.</a:t>
            </a:r>
          </a:p>
          <a:p>
            <a:pPr>
              <a:spcAft>
                <a:spcPts val="500"/>
              </a:spcAft>
              <a:defRPr sz="1000">
                <a:latin typeface="Arial"/>
              </a:defRPr>
            </a:pPr>
            <a:r>
              <a:rPr b="1">
                <a:solidFill>
                  <a:srgbClr val="1F2D3D"/>
                </a:solidFill>
              </a:rPr>
              <a:t>  DOULEUR :  </a:t>
            </a:r>
            <a:r>
              <a:rPr b="0">
                <a:solidFill>
                  <a:srgbClr val="64748B"/>
                </a:solidFill>
              </a:rPr>
              <a:t>« Comment vous gérez l'acquisition de nouveaux chantiers actuellement ? »</a:t>
            </a:r>
          </a:p>
          <a:p>
            <a:pPr>
              <a:spcAft>
                <a:spcPts val="500"/>
              </a:spcAft>
              <a:defRPr sz="1000">
                <a:latin typeface="Arial"/>
              </a:defRPr>
            </a:pPr>
            <a:r>
              <a:rPr b="1">
                <a:solidFill>
                  <a:srgbClr val="1F2D3D"/>
                </a:solidFill>
              </a:rPr>
              <a:t>  PONT :  </a:t>
            </a:r>
            <a:r>
              <a:rPr b="0">
                <a:solidFill>
                  <a:srgbClr val="64748B"/>
                </a:solidFill>
              </a:rPr>
              <a:t>« Vous connaissez le stress de rappeler un client en 3 min avant 4 concurrents ? »</a:t>
            </a:r>
          </a:p>
          <a:p>
            <a:pPr>
              <a:spcAft>
                <a:spcPts val="500"/>
              </a:spcAft>
              <a:defRPr sz="1000">
                <a:latin typeface="Arial"/>
              </a:defRPr>
            </a:pPr>
            <a:r>
              <a:rPr b="1">
                <a:solidFill>
                  <a:srgbClr val="1F2D3D"/>
                </a:solidFill>
              </a:rPr>
              <a:t>  PIVOT :  </a:t>
            </a:r>
            <a:r>
              <a:rPr b="0">
                <a:solidFill>
                  <a:srgbClr val="64748B"/>
                </a:solidFill>
              </a:rPr>
              <a:t>« Chez nous, c'est l'inverse. Le client voit VOTRE fiche, VOTRE numéro, et il vous appelle directement. »</a:t>
            </a:r>
          </a:p>
          <a:p>
            <a:pPr>
              <a:spcAft>
                <a:spcPts val="500"/>
              </a:spcAft>
              <a:defRPr sz="1000">
                <a:latin typeface="Arial"/>
              </a:defRPr>
            </a:pPr>
            <a:r>
              <a:rPr b="1">
                <a:solidFill>
                  <a:srgbClr val="1F2D3D"/>
                </a:solidFill>
              </a:rPr>
              <a:t>  STATS :  </a:t>
            </a:r>
            <a:r>
              <a:rPr b="0">
                <a:solidFill>
                  <a:srgbClr val="64748B"/>
                </a:solidFill>
              </a:rPr>
              <a:t>« Sur Gainable.fr, on a +58 000 pages indexées. Votre ville, votre nom, en tête de Google. »</a:t>
            </a:r>
          </a:p>
          <a:p>
            <a:pPr>
              <a:spcAft>
                <a:spcPts val="500"/>
              </a:spcAft>
              <a:defRPr sz="1000">
                <a:latin typeface="Arial"/>
              </a:defRPr>
            </a:pPr>
            <a:r>
              <a:rPr b="1">
                <a:solidFill>
                  <a:srgbClr val="1F2D3D"/>
                </a:solidFill>
              </a:rPr>
              <a:t>  CLOSE :  </a:t>
            </a:r>
            <a:r>
              <a:rPr b="0">
                <a:solidFill>
                  <a:srgbClr val="64748B"/>
                </a:solidFill>
              </a:rPr>
              <a:t>« Je vous fais une démo en direct de 5 min pour que vous voyez comment ça marche ? »</a:t>
            </a:r>
          </a:p>
          <a:p>
            <a:pPr>
              <a:spcAft>
                <a:spcPts val="500"/>
              </a:spcAft>
              <a:defRPr sz="1000">
                <a:latin typeface="Arial"/>
              </a:defRPr>
            </a:pPr>
            <a:r>
              <a:rPr b="1">
                <a:solidFill>
                  <a:srgbClr val="1F2D3D"/>
                </a:solidFill>
              </a:rPr>
              <a:t>  URGENCE :  </a:t>
            </a:r>
            <a:r>
              <a:rPr b="0">
                <a:solidFill>
                  <a:srgbClr val="64748B"/>
                </a:solidFill>
              </a:rPr>
              <a:t>« J'ai une dernière place sur [Ville] avant de la proposer à [Concurrent Connu si possible]. »</a:t>
            </a:r>
          </a:p>
          <a:p>
            <a:br/>
            <a:pPr>
              <a:spcAft>
                <a:spcPts val="400"/>
              </a:spcAft>
              <a:defRPr sz="1000" b="1">
                <a:solidFill>
                  <a:srgbClr val="F97316"/>
                </a:solidFill>
                <a:latin typeface="Arial"/>
              </a:defRPr>
            </a:pPr>
            <a:r>
              <a:t>💡 Si le gérant rappelle suite à un DM envoyé la veille :</a:t>
            </a:r>
          </a:p>
          <a:p>
            <a:pPr>
              <a:defRPr sz="1000" b="1">
                <a:solidFill>
                  <a:srgbClr val="1F2D3D"/>
                </a:solidFill>
                <a:latin typeface="Arial"/>
              </a:defRPr>
            </a:pPr>
            <a:r>
              <a:t>« Ah oui ! Je vous avais envoyé un message hier sur [Instagram/LinkedIn]. Merci de me rappeler. Je voulais vous parler de la zone exclusive sur [Ville] avant qu'on la libère à vos confrères. »</a:t>
            </a:r>
          </a:p>
        </p:txBody>
      </p:sp>
      <p:sp>
        <p:nvSpPr>
          <p:cNvPr id="8" name="Rectangle 7"/>
          <p:cNvSpPr/>
          <p:nvPr/>
        </p:nvSpPr>
        <p:spPr>
          <a:xfrm>
            <a:off x="6309360" y="6126480"/>
            <a:ext cx="548640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D59B2B"/>
                </a:solidFill>
                <a:latin typeface="Arial"/>
              </a:defRPr>
            </a:pPr>
            <a:r>
              <a:t>05 · RÉSEAUX SOCIAUX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F2D3D"/>
                </a:solidFill>
                <a:latin typeface="Arial"/>
              </a:defRPr>
            </a:pPr>
            <a:r>
              <a:t>Social Selling : Scripts Instagram &amp; LinkedIn — Mot pour Mot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999713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 b="1">
                <a:solidFill>
                  <a:srgbClr val="E1306C"/>
                </a:solidFill>
                <a:latin typeface="Arial"/>
              </a:defRPr>
            </a:pPr>
            <a:r>
              <a:t>📸 Instagram — Aucun Barrage Secrétaire</a:t>
            </a:r>
          </a:p>
          <a:p>
            <a:pPr>
              <a:spcAft>
                <a:spcPts val="300"/>
              </a:spcAft>
              <a:defRPr sz="1050" b="1">
                <a:solidFill>
                  <a:srgbClr val="1F2D3D"/>
                </a:solidFill>
                <a:latin typeface="Arial"/>
              </a:defRPr>
            </a:pPr>
            <a:r>
              <a:t>Étape 1 — Story-Réaction Technique</a:t>
            </a:r>
          </a:p>
          <a:p>
            <a:pPr>
              <a:spcAft>
                <a:spcPts val="300"/>
              </a:spcAft>
              <a:defRPr sz="950">
                <a:solidFill>
                  <a:srgbClr val="64748B"/>
                </a:solidFill>
                <a:latin typeface="Arial"/>
              </a:defRPr>
            </a:pPr>
            <a:r>
              <a:t>Réagissez à sa story (pose gainable, chantier, clim en cours). Question de métier :</a:t>
            </a:r>
          </a:p>
          <a:p>
            <a:pPr>
              <a:spcAft>
                <a:spcPts val="300"/>
              </a:spcAft>
              <a:defRPr sz="950" b="1">
                <a:solidFill>
                  <a:srgbClr val="1F2D3D"/>
                </a:solidFill>
                <a:latin typeface="Arial"/>
              </a:defRPr>
            </a:pPr>
            <a:r>
              <a:t>💬 « Propre la pose ! C'est du bi-split Daikin ? Pas trop galère le passage des liaisons ? »</a:t>
            </a:r>
          </a:p>
          <a:p>
            <a:pPr>
              <a:spcAft>
                <a:spcPts val="400"/>
              </a:spcAft>
              <a:defRPr sz="900">
                <a:solidFill>
                  <a:srgbClr val="10B981"/>
                </a:solidFill>
                <a:latin typeface="Arial"/>
              </a:defRPr>
            </a:pPr>
            <a:r>
              <a:t>→ L'artisan adore parler technique. Ça brise la glace sans approche commerciale.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300"/>
              </a:spcAft>
              <a:defRPr sz="1050" b="1">
                <a:solidFill>
                  <a:srgbClr val="1F2D3D"/>
                </a:solidFill>
                <a:latin typeface="Arial"/>
              </a:defRPr>
            </a:pPr>
            <a:r>
              <a:t>Étape 2 — DM Audit Visuel</a:t>
            </a:r>
          </a:p>
          <a:p>
            <a:pPr>
              <a:spcAft>
                <a:spcPts val="300"/>
              </a:spcAft>
              <a:defRPr sz="950">
                <a:solidFill>
                  <a:srgbClr val="64748B"/>
                </a:solidFill>
                <a:latin typeface="Arial"/>
              </a:defRPr>
            </a:pPr>
            <a:r>
              <a:t>Après interaction, envoyez en DM :</a:t>
            </a:r>
          </a:p>
          <a:p>
            <a:pPr>
              <a:spcAft>
                <a:spcPts val="300"/>
              </a:spcAft>
              <a:defRPr sz="950" b="1">
                <a:solidFill>
                  <a:srgbClr val="1F2D3D"/>
                </a:solidFill>
                <a:latin typeface="Arial"/>
              </a:defRPr>
            </a:pPr>
            <a:r>
              <a:t>💬 « Ton boulot est super propre. C'est dommage car quand je cherche 'clim gainable [Ville]', tu n'apparais pas. Les gros chantiers à 12k€ se signent sur Google, pas sur Insta. On a une demande exclusive sur ton secteur. Dispo pour s'appeler 2 min ? »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300"/>
              </a:spcAft>
              <a:defRPr sz="1050" b="1">
                <a:solidFill>
                  <a:srgbClr val="1F2D3D"/>
                </a:solidFill>
                <a:latin typeface="Arial"/>
              </a:defRPr>
            </a:pPr>
            <a:r>
              <a:t>Étape 3 — Relance si pas de réponse (J+2)</a:t>
            </a:r>
          </a:p>
          <a:p>
            <a:pPr>
              <a:spcAft>
                <a:spcPts val="300"/>
              </a:spcAft>
              <a:defRPr sz="950">
                <a:solidFill>
                  <a:srgbClr val="64748B"/>
                </a:solidFill>
                <a:latin typeface="Arial"/>
              </a:defRPr>
            </a:pPr>
            <a:r>
              <a:t>Message court de relance :</a:t>
            </a:r>
          </a:p>
          <a:p>
            <a:pPr>
              <a:spcAft>
                <a:spcPts val="300"/>
              </a:spcAft>
              <a:defRPr sz="950" b="1">
                <a:solidFill>
                  <a:srgbClr val="1F2D3D"/>
                </a:solidFill>
                <a:latin typeface="Arial"/>
              </a:defRPr>
            </a:pPr>
            <a:r>
              <a:t>💬 « Salut [Prénom], je voulais valider ton intérêt pour la zone [Ville] avant de la libérer pour tes confrères. »</a:t>
            </a:r>
          </a:p>
          <a:p>
            <a:pPr>
              <a:spcAft>
                <a:spcPts val="400"/>
              </a:spcAft>
              <a:defRPr sz="900">
                <a:solidFill>
                  <a:srgbClr val="10B981"/>
                </a:solidFill>
                <a:latin typeface="Arial"/>
              </a:defRPr>
            </a:pPr>
            <a:r>
              <a:t>→ L'urgence est réelle : l'exclusivité par zone est un vrai argument.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35040" y="1481328"/>
            <a:ext cx="5943600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60" y="1508760"/>
            <a:ext cx="54864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250" b="1">
                <a:solidFill>
                  <a:srgbClr val="0077B5"/>
                </a:solidFill>
                <a:latin typeface="Arial"/>
              </a:defRPr>
            </a:pPr>
            <a:r>
              <a:t>💼 LinkedIn — Cibler les PME CVC (5-20 salariés)</a:t>
            </a:r>
          </a:p>
          <a:p>
            <a:pPr>
              <a:spcAft>
                <a:spcPts val="300"/>
              </a:spcAft>
              <a:defRPr sz="1050" b="1">
                <a:solidFill>
                  <a:srgbClr val="1F2D3D"/>
                </a:solidFill>
                <a:latin typeface="Arial"/>
              </a:defRPr>
            </a:pPr>
            <a:r>
              <a:t>Approche 1 — Trigger Recrutement</a:t>
            </a:r>
          </a:p>
          <a:p>
            <a:pPr>
              <a:spcAft>
                <a:spcPts val="300"/>
              </a:spcAft>
              <a:defRPr sz="950">
                <a:solidFill>
                  <a:srgbClr val="64748B"/>
                </a:solidFill>
                <a:latin typeface="Arial"/>
              </a:defRPr>
            </a:pPr>
            <a:r>
              <a:t>Ciblez les dirigeants qui recrutent sur LinkedIn (ex: 'frigoriste CVC [Ville]') :</a:t>
            </a:r>
          </a:p>
          <a:p>
            <a:pPr>
              <a:spcAft>
                <a:spcPts val="300"/>
              </a:spcAft>
              <a:defRPr sz="950" b="1">
                <a:solidFill>
                  <a:srgbClr val="1F2D3D"/>
                </a:solidFill>
                <a:latin typeface="Arial"/>
              </a:defRPr>
            </a:pPr>
            <a:r>
              <a:t>💬 « Bonjour [Nom], j'ai vu que vous recrutiez un frigoriste sur [Ville], signe d'une belle croissance ! Dans le cadre de notre réseau gainable.fr, nous cherchons notre installateur partenaire exclusif sur votre secteur. Notre modèle : un unique installateur par zone géographique. Vos avis et certifications témoignent de votre sérieux. Êtes-vous en mesure de prendre de nouveaux chantiers ? »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300"/>
              </a:spcAft>
              <a:defRPr sz="1050" b="1">
                <a:solidFill>
                  <a:srgbClr val="1F2D3D"/>
                </a:solidFill>
                <a:latin typeface="Arial"/>
              </a:defRPr>
            </a:pPr>
            <a:r>
              <a:t>Approche 2 — Exclusivité Sectorielle</a:t>
            </a:r>
          </a:p>
          <a:p>
            <a:pPr>
              <a:spcAft>
                <a:spcPts val="300"/>
              </a:spcAft>
              <a:defRPr sz="950">
                <a:solidFill>
                  <a:srgbClr val="64748B"/>
                </a:solidFill>
                <a:latin typeface="Arial"/>
              </a:defRPr>
            </a:pPr>
            <a:r>
              <a:t>Connexion directe sur profil dirigeant CVC :</a:t>
            </a:r>
          </a:p>
          <a:p>
            <a:pPr>
              <a:spcAft>
                <a:spcPts val="300"/>
              </a:spcAft>
              <a:defRPr sz="950" b="1">
                <a:solidFill>
                  <a:srgbClr val="1F2D3D"/>
                </a:solidFill>
                <a:latin typeface="Arial"/>
              </a:defRPr>
            </a:pPr>
            <a:r>
              <a:t>💬 « Bonjour [Nom], nous finalisons le référencement exclusif des experts CVC sur [Ville]. Notre modèle : un unique installateur par secteur géographique pour lui envoyer toutes nos demandes sans revente multiple. Êtes-vous en mesure de prendre de nouveaux chantiers ? »</a:t>
            </a:r>
          </a:p>
          <a:p>
            <a:pPr>
              <a:spcAft>
                <a:spcPts val="200"/>
              </a:spcAft>
            </a:pPr>
          </a:p>
          <a:p>
            <a:pPr>
              <a:spcAft>
                <a:spcPts val="300"/>
              </a:spcAft>
              <a:defRPr sz="1050" b="1">
                <a:solidFill>
                  <a:srgbClr val="1F2D3D"/>
                </a:solidFill>
                <a:latin typeface="Arial"/>
              </a:defRPr>
            </a:pPr>
            <a:r>
              <a:t>Astuce — Invitation sans note de connexion</a:t>
            </a:r>
          </a:p>
          <a:p>
            <a:pPr>
              <a:spcAft>
                <a:spcPts val="300"/>
              </a:spcAft>
              <a:defRPr sz="950">
                <a:solidFill>
                  <a:srgbClr val="64748B"/>
                </a:solidFill>
                <a:latin typeface="Arial"/>
              </a:defRPr>
            </a:pPr>
            <a:r>
              <a:t>Envoyez des demandes de connexion SANS note de message.</a:t>
            </a:r>
          </a:p>
          <a:p>
            <a:pPr>
              <a:spcAft>
                <a:spcPts val="300"/>
              </a:spcAft>
              <a:defRPr sz="950" b="1">
                <a:solidFill>
                  <a:srgbClr val="1F2D3D"/>
                </a:solidFill>
                <a:latin typeface="Arial"/>
              </a:defRPr>
            </a:pPr>
            <a:r>
              <a:t>💬 Taux d'acceptation supérieur de +30% car ça ne ressemble pas à une sollicitation commerciale directe.</a:t>
            </a:r>
          </a:p>
          <a:p>
            <a:pPr>
              <a:spcAft>
                <a:spcPts val="400"/>
              </a:spcAft>
              <a:defRPr sz="900">
                <a:solidFill>
                  <a:srgbClr val="0077B5"/>
                </a:solidFill>
                <a:latin typeface="Arial"/>
              </a:defRPr>
            </a:pPr>
            <a:r>
              <a:t>→ Attendez l'acceptation, puis envoyez le DM personnalisé dans les 24h.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D59B2B"/>
                </a:solidFill>
                <a:latin typeface="Arial"/>
              </a:defRPr>
            </a:pPr>
            <a:r>
              <a:t>06 · CADENCE &amp; RYTHME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F2D3D"/>
                </a:solidFill>
                <a:latin typeface="Arial"/>
              </a:defRPr>
            </a:pPr>
            <a:r>
              <a:t>La Cadence de Prospection : Séquence Mixte sur 5 Jours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999713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481328"/>
            <a:ext cx="5029200" cy="292608"/>
          </a:xfrm>
          <a:prstGeom prst="roundRect">
            <a:avLst/>
          </a:prstGeom>
          <a:solidFill>
            <a:srgbClr val="1F2D3D"/>
          </a:solidFill>
          <a:ln>
            <a:solidFill>
              <a:srgbClr val="1F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🎯 Objectif : Traiter 50 prospects CVC RGE qualifiés par semaine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920240"/>
            <a:ext cx="2255459" cy="777240"/>
          </a:xfrm>
          <a:prstGeom prst="round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965960"/>
            <a:ext cx="2164019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200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J1 · Mardi</a:t>
            </a:r>
          </a:p>
          <a:p>
            <a:pPr algn="ctr">
              <a:defRPr sz="850" b="1">
                <a:solidFill>
                  <a:srgbClr val="FFFFC8"/>
                </a:solidFill>
                <a:latin typeface="Arial"/>
              </a:defRPr>
            </a:pPr>
            <a:r>
              <a:t>Premier Contact Multi-canal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788920"/>
            <a:ext cx="2255459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862072"/>
            <a:ext cx="20725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1F2D3D"/>
                </a:solidFill>
                <a:latin typeface="Arial"/>
              </a:defRPr>
            </a:pPr>
            <a:r>
              <a:t>Likez / commentez une photo technique de pose récente.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813048"/>
            <a:ext cx="2255459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3886200"/>
            <a:ext cx="20725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1F2D3D"/>
                </a:solidFill>
                <a:latin typeface="Arial"/>
              </a:defRPr>
            </a:pPr>
            <a:r>
              <a:t>Envoyez une demande de connexion (sans note) sur Instagram &amp; LinkedIn.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4837176"/>
            <a:ext cx="2255459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4910328"/>
            <a:ext cx="20725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1F2D3D"/>
                </a:solidFill>
                <a:latin typeface="Arial"/>
              </a:defRPr>
            </a:pPr>
            <a:r>
              <a:t>DM story-réaction : « Propre la pose ! C'est du bi-split Daikin ? 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5861304"/>
            <a:ext cx="2255459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5934456"/>
            <a:ext cx="20725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1F2D3D"/>
                </a:solidFill>
                <a:latin typeface="Arial"/>
              </a:defRPr>
            </a:pPr>
            <a:r>
              <a:t>Si email disponible → Séquence email J1 (présentation + audit offert).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22387" y="1920240"/>
            <a:ext cx="2255459" cy="77724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68107" y="1965960"/>
            <a:ext cx="2164019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200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J2 · Mercredi</a:t>
            </a:r>
          </a:p>
          <a:p>
            <a:pPr algn="ctr">
              <a:defRPr sz="850" b="1">
                <a:solidFill>
                  <a:srgbClr val="FFFFC8"/>
                </a:solidFill>
                <a:latin typeface="Arial"/>
              </a:defRPr>
            </a:pPr>
            <a:r>
              <a:t>Premier Appel Téléphonique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22387" y="2788920"/>
            <a:ext cx="2255459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13827" y="2862072"/>
            <a:ext cx="20725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1F2D3D"/>
                </a:solidFill>
                <a:latin typeface="Arial"/>
              </a:defRPr>
            </a:pPr>
            <a:r>
              <a:t>Appel direct entre 8h30-9h30 ou 12h00-13h30.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22387" y="3813048"/>
            <a:ext cx="2255459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13827" y="3886200"/>
            <a:ext cx="20725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1F2D3D"/>
                </a:solidFill>
                <a:latin typeface="Arial"/>
              </a:defRPr>
            </a:pPr>
            <a:r>
              <a:t>Barrage secrétariat : « C'est au sujet d'un gainable ».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22387" y="4837176"/>
            <a:ext cx="2255459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13827" y="4910328"/>
            <a:ext cx="20725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1F2D3D"/>
                </a:solidFill>
                <a:latin typeface="Arial"/>
              </a:defRPr>
            </a:pPr>
            <a:r>
              <a:t>Rebond DM si déjà contacté : « Je vous avais envoyé un message hier ».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22387" y="5861304"/>
            <a:ext cx="2255459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913827" y="5934456"/>
            <a:ext cx="20725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1F2D3D"/>
                </a:solidFill>
                <a:latin typeface="Arial"/>
              </a:defRPr>
            </a:pPr>
            <a:r>
              <a:t>Si messagerie vocale : Laissez votre prénom + gainable.fr + rappel.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187574" y="1920240"/>
            <a:ext cx="2255459" cy="777240"/>
          </a:xfrm>
          <a:prstGeom prst="round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33294" y="1965960"/>
            <a:ext cx="2164019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200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J3 · Jeudi</a:t>
            </a:r>
          </a:p>
          <a:p>
            <a:pPr algn="ctr">
              <a:defRPr sz="850" b="1">
                <a:solidFill>
                  <a:srgbClr val="FFFFC8"/>
                </a:solidFill>
                <a:latin typeface="Arial"/>
              </a:defRPr>
            </a:pPr>
            <a:r>
              <a:t>Relance Écrite Courte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87574" y="2788920"/>
            <a:ext cx="2255459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79014" y="2862072"/>
            <a:ext cx="20725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1F2D3D"/>
                </a:solidFill>
                <a:latin typeface="Arial"/>
              </a:defRPr>
            </a:pPr>
            <a:r>
              <a:t>Message court sur LinkedIn / Instagram / WhatsApp :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187574" y="3813048"/>
            <a:ext cx="2255459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79014" y="3886200"/>
            <a:ext cx="20725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1F2D3D"/>
                </a:solidFill>
                <a:latin typeface="Arial"/>
              </a:defRPr>
            </a:pPr>
            <a:r>
              <a:t>« Bonjour [Prénom], je vous ai laissé un message hier. »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187574" y="4837176"/>
            <a:ext cx="2255459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79014" y="4910328"/>
            <a:ext cx="20725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1F2D3D"/>
                </a:solidFill>
                <a:latin typeface="Arial"/>
              </a:defRPr>
            </a:pPr>
            <a:r>
              <a:t>« Je voulais valider votre intérêt pour l'exclusivité de [Ville] »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87574" y="5861304"/>
            <a:ext cx="2255459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79014" y="5934456"/>
            <a:ext cx="20725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1F2D3D"/>
                </a:solidFill>
                <a:latin typeface="Arial"/>
              </a:defRPr>
            </a:pPr>
            <a:r>
              <a:t>« avant de libérer la zone à vos confrères. »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552761" y="1920240"/>
            <a:ext cx="2255459" cy="777240"/>
          </a:xfrm>
          <a:prstGeom prst="roundRect">
            <a:avLst/>
          </a:prstGeom>
          <a:solidFill>
            <a:srgbClr val="D59B2B"/>
          </a:solidFill>
          <a:ln>
            <a:solidFill>
              <a:srgbClr val="D59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598481" y="1965960"/>
            <a:ext cx="2164019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200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J4 · Vendredi</a:t>
            </a:r>
          </a:p>
          <a:p>
            <a:pPr algn="ctr">
              <a:defRPr sz="850" b="1">
                <a:solidFill>
                  <a:srgbClr val="FFFFC8"/>
                </a:solidFill>
                <a:latin typeface="Arial"/>
              </a:defRPr>
            </a:pPr>
            <a:r>
              <a:t>Second Appel / Close Direct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552761" y="2788920"/>
            <a:ext cx="2255459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9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644201" y="2862072"/>
            <a:ext cx="20725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1F2D3D"/>
                </a:solidFill>
                <a:latin typeface="Arial"/>
              </a:defRPr>
            </a:pPr>
            <a:r>
              <a:t>Deuxième appel — mentionnez le message du J3.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52761" y="3813048"/>
            <a:ext cx="2255459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9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44201" y="3886200"/>
            <a:ext cx="20725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1F2D3D"/>
                </a:solidFill>
                <a:latin typeface="Arial"/>
              </a:defRPr>
            </a:pPr>
            <a:r>
              <a:t>Proposez la démo de 5 min immédiate : « Je suis là, dispo maintenant. »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552761" y="4837176"/>
            <a:ext cx="2255459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9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44201" y="4910328"/>
            <a:ext cx="20725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1F2D3D"/>
                </a:solidFill>
                <a:latin typeface="Arial"/>
              </a:defRPr>
            </a:pPr>
            <a:r>
              <a:t>Si accord → envoyez le lien Stripe directement en ligne avec lui.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552761" y="5861304"/>
            <a:ext cx="2255459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9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644201" y="5934456"/>
            <a:ext cx="20725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1F2D3D"/>
                </a:solidFill>
                <a:latin typeface="Arial"/>
              </a:defRPr>
            </a:pPr>
            <a:r>
              <a:t>Si hésitation → code EXCLU10 pour -10% si signature ce jour.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917948" y="1920240"/>
            <a:ext cx="2255459" cy="777240"/>
          </a:xfrm>
          <a:prstGeom prst="roundRect">
            <a:avLst/>
          </a:prstGeom>
          <a:solidFill>
            <a:srgbClr val="EF4444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963668" y="1965960"/>
            <a:ext cx="2164019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spcAft>
                <a:spcPts val="200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J5 · Lundi +1</a:t>
            </a:r>
          </a:p>
          <a:p>
            <a:pPr algn="ctr">
              <a:defRPr sz="850" b="1">
                <a:solidFill>
                  <a:srgbClr val="FFFFC8"/>
                </a:solidFill>
                <a:latin typeface="Arial"/>
              </a:defRPr>
            </a:pPr>
            <a:r>
              <a:t>Retrait Stratégique / Urgence Finale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917948" y="2788920"/>
            <a:ext cx="2255459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009388" y="2862072"/>
            <a:ext cx="20725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1F2D3D"/>
                </a:solidFill>
                <a:latin typeface="Arial"/>
              </a:defRPr>
            </a:pPr>
            <a:r>
              <a:t>Message de désengagement = déclencheur puissant :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917948" y="3813048"/>
            <a:ext cx="2255459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009388" y="3886200"/>
            <a:ext cx="20725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1F2D3D"/>
                </a:solidFill>
                <a:latin typeface="Arial"/>
              </a:defRPr>
            </a:pPr>
            <a:r>
              <a:t>« Bonjour [Nom], sans retour de votre part, »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917948" y="4837176"/>
            <a:ext cx="2255459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009388" y="4910328"/>
            <a:ext cx="20725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1F2D3D"/>
                </a:solidFill>
                <a:latin typeface="Arial"/>
              </a:defRPr>
            </a:pPr>
            <a:r>
              <a:t>« je libère la zone de [Ville] pour vos confrères. »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917948" y="5861304"/>
            <a:ext cx="2255459" cy="960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009388" y="5934456"/>
            <a:ext cx="2072579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1F2D3D"/>
                </a:solidFill>
                <a:latin typeface="Arial"/>
              </a:defRPr>
            </a:pPr>
            <a:r>
              <a:t>« Excellente continuation. 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D59B2B"/>
                </a:solidFill>
                <a:latin typeface="Arial"/>
              </a:defRPr>
            </a:pPr>
            <a:r>
              <a:t>07 · POSTURE &amp; ARGUMENTATION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F2D3D"/>
                </a:solidFill>
                <a:latin typeface="Arial"/>
              </a:defRPr>
            </a:pPr>
            <a:r>
              <a:t>Argumentaires Clés : Écoute Active, Reformulation, Anti-Plateformes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999713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554480"/>
            <a:ext cx="557784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5577840" cy="64008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664207"/>
            <a:ext cx="5212079" cy="19019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3B82F6"/>
                </a:solidFill>
                <a:latin typeface="Arial"/>
              </a:defRPr>
            </a:pPr>
            <a:r>
              <a:t>🎧 1. L'Écoute Active (70% de la vente)</a:t>
            </a:r>
          </a:p>
          <a:p>
            <a:pPr>
              <a:spcAft>
                <a:spcPts val="200"/>
              </a:spcAft>
              <a:defRPr sz="900" b="0">
                <a:solidFill>
                  <a:srgbClr val="64748B"/>
                </a:solidFill>
                <a:latin typeface="Arial"/>
              </a:defRPr>
            </a:pPr>
            <a:r>
              <a:t>Valider les frustrations avec empathie :</a:t>
            </a:r>
          </a:p>
          <a:p>
            <a:pPr>
              <a:spcAft>
                <a:spcPts val="200"/>
              </a:spcAft>
              <a:defRPr sz="950" b="1">
                <a:solidFill>
                  <a:srgbClr val="1F2D3D"/>
                </a:solidFill>
                <a:latin typeface="Arial"/>
              </a:defRPr>
            </a:pPr>
            <a:r>
              <a:t>« Je comprends, c'est très frustrant de payer pour des leads partagés avec 4 concurrents. »</a:t>
            </a:r>
          </a:p>
          <a:p>
            <a:pPr>
              <a:spcAft>
                <a:spcPts val="200"/>
              </a:spcAft>
              <a:defRPr sz="900" b="0">
                <a:solidFill>
                  <a:srgbClr val="64748B"/>
                </a:solidFill>
                <a:latin typeface="Arial"/>
              </a:defRPr>
            </a:pPr>
            <a:r>
              <a:t>Poser des questions ouvertes :</a:t>
            </a:r>
          </a:p>
          <a:p>
            <a:pPr>
              <a:spcAft>
                <a:spcPts val="200"/>
              </a:spcAft>
              <a:defRPr sz="950" b="1">
                <a:solidFill>
                  <a:srgbClr val="1F2D3D"/>
                </a:solidFill>
                <a:latin typeface="Arial"/>
              </a:defRPr>
            </a:pPr>
            <a:r>
              <a:t>« Comment gérez-vous les périodes creuses ? » · « Combien vous coûte l'acquisition d'un client ? »</a:t>
            </a:r>
          </a:p>
          <a:p>
            <a:pPr>
              <a:spcAft>
                <a:spcPts val="200"/>
              </a:spcAft>
              <a:defRPr sz="900" b="0">
                <a:solidFill>
                  <a:srgbClr val="64748B"/>
                </a:solidFill>
                <a:latin typeface="Arial"/>
              </a:defRPr>
            </a:pPr>
            <a:r>
              <a:t>Reformulation pour déclencher le 'Oui franc' :</a:t>
            </a:r>
          </a:p>
          <a:p>
            <a:pPr>
              <a:spcAft>
                <a:spcPts val="200"/>
              </a:spcAft>
              <a:defRPr sz="950" b="1">
                <a:solidFill>
                  <a:srgbClr val="1F2D3D"/>
                </a:solidFill>
                <a:latin typeface="Arial"/>
              </a:defRPr>
            </a:pPr>
            <a:r>
              <a:t>« Si je comprends bien : vous voulez un canal direct, sans intermédiaire, sans destruction de marges ?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557784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26480" y="1554480"/>
            <a:ext cx="5577840" cy="640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60" y="1664207"/>
            <a:ext cx="5212079" cy="19019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10B981"/>
                </a:solidFill>
                <a:latin typeface="Arial"/>
              </a:defRPr>
            </a:pPr>
            <a:r>
              <a:t>⚖️ 2. Le Comparatif ROI — Chiffres qui Claquent</a:t>
            </a:r>
          </a:p>
          <a:p>
            <a:pPr>
              <a:spcAft>
                <a:spcPts val="200"/>
              </a:spcAft>
              <a:defRPr sz="900" b="0">
                <a:solidFill>
                  <a:srgbClr val="64748B"/>
                </a:solidFill>
                <a:latin typeface="Arial"/>
              </a:defRPr>
            </a:pPr>
            <a:r>
              <a:t>Ramener le tarif à l'échelle quotidienne :</a:t>
            </a:r>
          </a:p>
          <a:p>
            <a:pPr>
              <a:spcAft>
                <a:spcPts val="200"/>
              </a:spcAft>
              <a:defRPr sz="950" b="1">
                <a:solidFill>
                  <a:srgbClr val="1F2D3D"/>
                </a:solidFill>
                <a:latin typeface="Arial"/>
              </a:defRPr>
            </a:pPr>
            <a:r>
              <a:t>850 €/an = 2,33 €/jour = moins qu'un café quotidien.</a:t>
            </a:r>
          </a:p>
          <a:p>
            <a:pPr>
              <a:spcAft>
                <a:spcPts val="200"/>
              </a:spcAft>
              <a:defRPr sz="900" b="0">
                <a:solidFill>
                  <a:srgbClr val="64748B"/>
                </a:solidFill>
                <a:latin typeface="Arial"/>
              </a:defRPr>
            </a:pPr>
            <a:r>
              <a:t>Comparer avec Google Ads :</a:t>
            </a:r>
          </a:p>
          <a:p>
            <a:pPr>
              <a:spcAft>
                <a:spcPts val="200"/>
              </a:spcAft>
              <a:defRPr sz="950" b="1">
                <a:solidFill>
                  <a:srgbClr val="1F2D3D"/>
                </a:solidFill>
                <a:latin typeface="Arial"/>
              </a:defRPr>
            </a:pPr>
            <a:r>
              <a:t>Un lead climatisation Google Ads = 40 à 80 € HT (qu'il soit signé ou non).</a:t>
            </a:r>
          </a:p>
          <a:p>
            <a:pPr>
              <a:spcAft>
                <a:spcPts val="200"/>
              </a:spcAft>
              <a:defRPr sz="900" b="0">
                <a:solidFill>
                  <a:srgbClr val="64748B"/>
                </a:solidFill>
                <a:latin typeface="Arial"/>
              </a:defRPr>
            </a:pPr>
            <a:r>
              <a:t>Le chantier ROI :</a:t>
            </a:r>
          </a:p>
          <a:p>
            <a:pPr>
              <a:spcAft>
                <a:spcPts val="200"/>
              </a:spcAft>
              <a:defRPr sz="950" b="1">
                <a:solidFill>
                  <a:srgbClr val="1F2D3D"/>
                </a:solidFill>
                <a:latin typeface="Arial"/>
              </a:defRPr>
            </a:pPr>
            <a:r>
              <a:t>1 seule pose gainable (8 000 à 15 000 €) = abonnement rentabilisé pour 10 ans.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794760"/>
            <a:ext cx="557784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59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3794760"/>
            <a:ext cx="5577840" cy="64008"/>
          </a:xfrm>
          <a:prstGeom prst="rect">
            <a:avLst/>
          </a:prstGeom>
          <a:solidFill>
            <a:srgbClr val="D59B2B"/>
          </a:solidFill>
          <a:ln>
            <a:solidFill>
              <a:srgbClr val="D59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904488"/>
            <a:ext cx="5212079" cy="19019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D59B2B"/>
                </a:solidFill>
                <a:latin typeface="Arial"/>
              </a:defRPr>
            </a:pPr>
            <a:r>
              <a:t>🏆 3. L'Anti-Plateforme — Notre Différence Fondamentale</a:t>
            </a:r>
          </a:p>
          <a:p>
            <a:pPr>
              <a:spcAft>
                <a:spcPts val="200"/>
              </a:spcAft>
              <a:defRPr sz="900" b="0">
                <a:solidFill>
                  <a:srgbClr val="64748B"/>
                </a:solidFill>
                <a:latin typeface="Arial"/>
              </a:defRPr>
            </a:pPr>
            <a:r>
              <a:t>Nous ne sommes PAS une plateforme de leads :</a:t>
            </a:r>
          </a:p>
          <a:p>
            <a:pPr>
              <a:spcAft>
                <a:spcPts val="200"/>
              </a:spcAft>
              <a:defRPr sz="900" b="0">
                <a:solidFill>
                  <a:srgbClr val="64748B"/>
                </a:solidFill>
                <a:latin typeface="Arial"/>
              </a:defRPr>
            </a:pPr>
            <a:r>
              <a:t>Parcours client : Google → Gainable.fr → Votre fiche → Il vous appelle DIRECTEMENT.</a:t>
            </a:r>
          </a:p>
          <a:p>
            <a:pPr>
              <a:spcAft>
                <a:spcPts val="200"/>
              </a:spcAft>
              <a:defRPr sz="950" b="1">
                <a:solidFill>
                  <a:srgbClr val="1F2D3D"/>
                </a:solidFill>
                <a:latin typeface="Arial"/>
              </a:defRPr>
            </a:pPr>
            <a:r>
              <a:t>0% de commission sur vos chantiers. Abonnement fixe et prévisible.</a:t>
            </a:r>
          </a:p>
          <a:p>
            <a:pPr>
              <a:spcAft>
                <a:spcPts val="200"/>
              </a:spcAft>
              <a:defRPr sz="900" b="0">
                <a:solidFill>
                  <a:srgbClr val="64748B"/>
                </a:solidFill>
                <a:latin typeface="Arial"/>
              </a:defRPr>
            </a:pPr>
            <a:r>
              <a:t>Argument autorité :</a:t>
            </a:r>
          </a:p>
          <a:p>
            <a:pPr>
              <a:spcAft>
                <a:spcPts val="200"/>
              </a:spcAft>
              <a:defRPr sz="950" b="1">
                <a:solidFill>
                  <a:srgbClr val="1F2D3D"/>
                </a:solidFill>
                <a:latin typeface="Arial"/>
              </a:defRPr>
            </a:pPr>
            <a:r>
              <a:t>+58 000 pages indexées. Tapez 'site:gainable.fr' → C'est votre bouclier contre les géants.</a:t>
            </a:r>
          </a:p>
          <a:p>
            <a:pPr>
              <a:spcAft>
                <a:spcPts val="200"/>
              </a:spcAft>
              <a:defRPr sz="950" b="1">
                <a:solidFill>
                  <a:srgbClr val="1F2D3D"/>
                </a:solidFill>
                <a:latin typeface="Arial"/>
              </a:defRPr>
            </a:pPr>
            <a:r>
              <a:t>Fiches d'intervention détaillées → Moins de 'curieux', plus de clients sérieux.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3794760"/>
            <a:ext cx="5577840" cy="2103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3794760"/>
            <a:ext cx="5577840" cy="64008"/>
          </a:xfrm>
          <a:prstGeom prst="rect">
            <a:avLst/>
          </a:prstGeom>
          <a:solidFill>
            <a:srgbClr val="EF4444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3904488"/>
            <a:ext cx="5212079" cy="19019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100" b="1">
                <a:solidFill>
                  <a:srgbClr val="EF4444"/>
                </a:solidFill>
                <a:latin typeface="Arial"/>
              </a:defRPr>
            </a:pPr>
            <a:r>
              <a:t>🎯 4. Le Closing à la Reformulation Finale</a:t>
            </a:r>
          </a:p>
          <a:p>
            <a:pPr>
              <a:spcAft>
                <a:spcPts val="200"/>
              </a:spcAft>
              <a:defRPr sz="900" b="0">
                <a:solidFill>
                  <a:srgbClr val="64748B"/>
                </a:solidFill>
                <a:latin typeface="Arial"/>
              </a:defRPr>
            </a:pPr>
            <a:r>
              <a:t>Après avoir géré les objections, recentrez sur le 'Oui' :</a:t>
            </a:r>
          </a:p>
          <a:p>
            <a:pPr>
              <a:spcAft>
                <a:spcPts val="200"/>
              </a:spcAft>
              <a:defRPr sz="950" b="1">
                <a:solidFill>
                  <a:srgbClr val="1F2D3D"/>
                </a:solidFill>
                <a:latin typeface="Arial"/>
              </a:defRPr>
            </a:pPr>
            <a:r>
              <a:t>« Donc si je comprends bien, votre seul frein c'est [l'objection nommée] ? »</a:t>
            </a:r>
          </a:p>
          <a:p>
            <a:pPr>
              <a:spcAft>
                <a:spcPts val="200"/>
              </a:spcAft>
              <a:defRPr sz="950" b="1">
                <a:solidFill>
                  <a:srgbClr val="1F2D3D"/>
                </a:solidFill>
                <a:latin typeface="Arial"/>
              </a:defRPr>
            </a:pPr>
            <a:r>
              <a:t>« Si je règle ça maintenant, on peut avancer ? »</a:t>
            </a:r>
          </a:p>
          <a:p>
            <a:pPr>
              <a:spcAft>
                <a:spcPts val="200"/>
              </a:spcAft>
              <a:defRPr sz="900" b="0">
                <a:solidFill>
                  <a:srgbClr val="64748B"/>
                </a:solidFill>
                <a:latin typeface="Arial"/>
              </a:defRPr>
            </a:pPr>
            <a:r>
              <a:t>Envoyez le lien Stripe en direct :</a:t>
            </a:r>
          </a:p>
          <a:p>
            <a:pPr>
              <a:spcAft>
                <a:spcPts val="200"/>
              </a:spcAft>
              <a:defRPr sz="900" b="0">
                <a:solidFill>
                  <a:srgbClr val="64748B"/>
                </a:solidFill>
                <a:latin typeface="Arial"/>
              </a:defRPr>
            </a:pPr>
            <a:r>
              <a:t>Restez à l'oral avec lui pendant la saisie. Si hésitation après clic :</a:t>
            </a:r>
          </a:p>
          <a:p>
            <a:pPr>
              <a:spcAft>
                <a:spcPts val="200"/>
              </a:spcAft>
              <a:defRPr sz="950" b="1">
                <a:solidFill>
                  <a:srgbClr val="1F2D3D"/>
                </a:solidFill>
                <a:latin typeface="Arial"/>
              </a:defRPr>
            </a:pPr>
            <a:r>
              <a:t>« Je vous applique le code EXCLU10 pour -10% si vous validez maintenant → 765 € au lieu de 850 € HT. 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D59B2B"/>
                </a:solidFill>
                <a:latin typeface="Arial"/>
              </a:defRPr>
            </a:pPr>
            <a:r>
              <a:t>08 · DÉMO &amp; CLOSING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F2D3D"/>
                </a:solidFill>
                <a:latin typeface="Arial"/>
              </a:defRPr>
            </a:pPr>
            <a:r>
              <a:t>La Démo d'Impact 5 min &amp; Le Closing Stripe — Pas à Pas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999713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554480"/>
            <a:ext cx="2697480" cy="548640"/>
          </a:xfrm>
          <a:prstGeom prst="round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627632"/>
            <a:ext cx="2514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⏱ 0:00-2:00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2148840"/>
            <a:ext cx="2697480" cy="457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94560"/>
            <a:ext cx="2514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3B82F6"/>
                </a:solidFill>
                <a:latin typeface="Arial"/>
              </a:defRPr>
            </a:pPr>
            <a:r>
              <a:t>Effet WoW de l'IA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2670048"/>
            <a:ext cx="269748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2761488"/>
            <a:ext cx="24780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F2D3D"/>
                </a:solidFill>
                <a:latin typeface="Arial"/>
              </a:defRPr>
            </a:pPr>
            <a:r>
              <a:t>1. « Dites-moi votre dernier chantier en 3 mots. 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3877056"/>
            <a:ext cx="269748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3968496"/>
            <a:ext cx="24780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2. Tapez en direct dans l'assistant IA : 'Pose gainable Daikin à [Ville]'.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5760" y="5084064"/>
            <a:ext cx="269748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5175504"/>
            <a:ext cx="24780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3. L'IA génère un article technique de 500 mots en 30 secondes sous ses yeux.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6291072"/>
            <a:ext cx="269748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6382512"/>
            <a:ext cx="24780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F2D3D"/>
                </a:solidFill>
                <a:latin typeface="Arial"/>
              </a:defRPr>
            </a:pPr>
            <a:r>
              <a:t>4. « Voilà ce que Google verra dans les prochains jours. 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91840" y="1554480"/>
            <a:ext cx="2697480" cy="54864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83280" y="1627632"/>
            <a:ext cx="2514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⏱ 2:00-3:00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91840" y="2148840"/>
            <a:ext cx="2697480" cy="457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83280" y="2194560"/>
            <a:ext cx="2514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10B981"/>
                </a:solidFill>
                <a:latin typeface="Arial"/>
              </a:defRPr>
            </a:pPr>
            <a:r>
              <a:t>Preuve : 0 Revente de Contact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91840" y="2670048"/>
            <a:ext cx="269748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01568" y="2761488"/>
            <a:ext cx="24780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1. Montrez une fiche artisan Gainable.fr déjà en ligne.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3877056"/>
            <a:ext cx="269748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401568" y="3968496"/>
            <a:ext cx="24780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F2D3D"/>
                </a:solidFill>
                <a:latin typeface="Arial"/>
              </a:defRPr>
            </a:pPr>
            <a:r>
              <a:t>2. « Dès que le client vous trouve, il clique sur VOTRE numéro — personne d'autre. »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91840" y="5084064"/>
            <a:ext cx="269748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401568" y="5175504"/>
            <a:ext cx="24780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3. Montrez un exemple de fiche pro déjà en ligne (Air G Énergie par ex.).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291840" y="6291072"/>
            <a:ext cx="269748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01568" y="6382512"/>
            <a:ext cx="24780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F2D3D"/>
                </a:solidFill>
                <a:latin typeface="Arial"/>
              </a:defRPr>
            </a:pPr>
            <a:r>
              <a:t>4. « Ces artisans reçoivent des appels directs. Le client les a CHOISIS, pas un algo qui revend. »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1554480"/>
            <a:ext cx="2697480" cy="548640"/>
          </a:xfrm>
          <a:prstGeom prst="roundRect">
            <a:avLst/>
          </a:prstGeom>
          <a:solidFill>
            <a:srgbClr val="D59B2B"/>
          </a:solidFill>
          <a:ln>
            <a:solidFill>
              <a:srgbClr val="D59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1627632"/>
            <a:ext cx="2514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⏱ 3:00-4:00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2148840"/>
            <a:ext cx="2697480" cy="457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D59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09360" y="2194560"/>
            <a:ext cx="2514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D59B2B"/>
                </a:solidFill>
                <a:latin typeface="Arial"/>
              </a:defRPr>
            </a:pPr>
            <a:r>
              <a:t>Position Google en Direct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17920" y="2670048"/>
            <a:ext cx="269748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9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27648" y="2761488"/>
            <a:ext cx="24780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1. Tapez 'climatisation gainable [Ville cible]' sur Google.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17920" y="3877056"/>
            <a:ext cx="269748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9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27648" y="3968496"/>
            <a:ext cx="24780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2. Gainable.fr apparaît en haut. Montrez-le-lui.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17920" y="5084064"/>
            <a:ext cx="269748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9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27648" y="5175504"/>
            <a:ext cx="24780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F2D3D"/>
                </a:solidFill>
                <a:latin typeface="Arial"/>
              </a:defRPr>
            </a:pPr>
            <a:r>
              <a:t>3. « Vous voyez ? Votre profil sera là dans 48h. »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217920" y="6291072"/>
            <a:ext cx="269748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9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27648" y="6382512"/>
            <a:ext cx="24780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F2D3D"/>
                </a:solidFill>
                <a:latin typeface="Arial"/>
              </a:defRPr>
            </a:pPr>
            <a:r>
              <a:t>4. « Vos concurrents qui apparaissent ici ? Ce sont eux que vos clients appellent aujourd'hui à votre place. »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144000" y="1554480"/>
            <a:ext cx="2697480" cy="548640"/>
          </a:xfrm>
          <a:prstGeom prst="roundRect">
            <a:avLst/>
          </a:prstGeom>
          <a:solidFill>
            <a:srgbClr val="EF4444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235440" y="1627632"/>
            <a:ext cx="2514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rial"/>
              </a:defRPr>
            </a:pPr>
            <a:r>
              <a:t>⏱ 4:00-5:00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44000" y="2148840"/>
            <a:ext cx="2697480" cy="45720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235440" y="2194560"/>
            <a:ext cx="2514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EF4444"/>
                </a:solidFill>
                <a:latin typeface="Arial"/>
              </a:defRPr>
            </a:pPr>
            <a:r>
              <a:t>Closing &amp; Paiement Stripe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144000" y="2670048"/>
            <a:ext cx="269748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53728" y="2761488"/>
            <a:ext cx="24780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1. Envoyez le lien de souscription Stripe EN DIRECT.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9144000" y="3877056"/>
            <a:ext cx="269748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53728" y="3968496"/>
            <a:ext cx="24780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2. Restez en ligne avec lui pendant la saisie. Ne raccrochez pas.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144000" y="5084064"/>
            <a:ext cx="269748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253728" y="5175504"/>
            <a:ext cx="24780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Arial"/>
              </a:defRPr>
            </a:pPr>
            <a:r>
              <a:t>3. Si hésitation : « Je vous applique EXCLU10 → 765 € au lieu de 850 € HT. »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9144000" y="6291072"/>
            <a:ext cx="2697480" cy="11155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253728" y="6382512"/>
            <a:ext cx="2478024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1F2D3D"/>
                </a:solidFill>
                <a:latin typeface="Arial"/>
              </a:defRPr>
            </a:pPr>
            <a:r>
              <a:t>4. « C'est valable uniquement maintenant, cette zone part dès demain. »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D59B2B"/>
                </a:solidFill>
                <a:latin typeface="Arial"/>
              </a:defRPr>
            </a:pPr>
            <a:r>
              <a:t>09 · OBJECTIONS &amp; CONTRE-ARGUMENTS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F2D3D"/>
                </a:solidFill>
                <a:latin typeface="Arial"/>
              </a:defRPr>
            </a:pPr>
            <a:r>
              <a:t>Traitement des Objections : 8 Réponses Mot pour Mot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999713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554480"/>
            <a:ext cx="5577840" cy="11704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554480"/>
            <a:ext cx="73152" cy="1170432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627632"/>
            <a:ext cx="5321807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F97316"/>
                </a:solidFill>
                <a:latin typeface="Arial"/>
              </a:defRPr>
            </a:pPr>
            <a:r>
              <a:t>💬 « Je fonctionne au bouche-à-oreille »</a:t>
            </a:r>
          </a:p>
          <a:p>
            <a:pPr>
              <a:defRPr sz="900">
                <a:solidFill>
                  <a:srgbClr val="1F2D3D"/>
                </a:solidFill>
                <a:latin typeface="Arial"/>
              </a:defRPr>
            </a:pPr>
            <a:r>
              <a:t>↳ « C'est génial, preuve de votre sérieux. Mais 9 clients sur 10 recommandés par un ami tapent votre nom sur Google pour se rassurer. S'ils ne voient rien de récent, ils doutent. On digitalise votre bouche-à-oreille.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6480" y="1554480"/>
            <a:ext cx="5577840" cy="11704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26480" y="1554480"/>
            <a:ext cx="73152" cy="1170432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91072" y="1627632"/>
            <a:ext cx="5321807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3B82F6"/>
                </a:solidFill>
                <a:latin typeface="Arial"/>
              </a:defRPr>
            </a:pPr>
            <a:r>
              <a:t>💬 « J'ai déjà mon propre site vitrine »</a:t>
            </a:r>
          </a:p>
          <a:p>
            <a:pPr>
              <a:defRPr sz="900">
                <a:solidFill>
                  <a:srgbClr val="1F2D3D"/>
                </a:solidFill>
                <a:latin typeface="Arial"/>
              </a:defRPr>
            </a:pPr>
            <a:r>
              <a:t>↳ « C'est très bien. Tapez 'site:votresite.com' : il n'y a que 4 pages. Face aux géants nationaux, un petit site individuel est invisible. En publiant chez nous, vous profitez de l'autorité de Gainable.fr (58k pages). 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5760" y="2816352"/>
            <a:ext cx="5577840" cy="11704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2816352"/>
            <a:ext cx="73152" cy="1170432"/>
          </a:xfrm>
          <a:prstGeom prst="rect">
            <a:avLst/>
          </a:prstGeom>
          <a:solidFill>
            <a:srgbClr val="EF4444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2889504"/>
            <a:ext cx="5321807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EF4444"/>
                </a:solidFill>
                <a:latin typeface="Arial"/>
              </a:defRPr>
            </a:pPr>
            <a:r>
              <a:t>💬 « J'achète des leads chez Travaux.com/Effy »</a:t>
            </a:r>
          </a:p>
          <a:p>
            <a:pPr>
              <a:defRPr sz="900">
                <a:solidFill>
                  <a:srgbClr val="1F2D3D"/>
                </a:solidFill>
                <a:latin typeface="Arial"/>
              </a:defRPr>
            </a:pPr>
            <a:r>
              <a:t>↳ « Vous connaissez le stress de rappeler en 3 min avant 4 concurrents et brader vos marges ? Sur Gainable.fr, le client voit VOTRE fiche, il vous choisit, il vous appelle directement. Zéro revente de contact. 0% commission. 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2816352"/>
            <a:ext cx="5577840" cy="11704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59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816352"/>
            <a:ext cx="73152" cy="1170432"/>
          </a:xfrm>
          <a:prstGeom prst="rect">
            <a:avLst/>
          </a:prstGeom>
          <a:solidFill>
            <a:srgbClr val="D59B2B"/>
          </a:solidFill>
          <a:ln>
            <a:solidFill>
              <a:srgbClr val="D59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91072" y="2889504"/>
            <a:ext cx="5321807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D59B2B"/>
                </a:solidFill>
                <a:latin typeface="Arial"/>
              </a:defRPr>
            </a:pPr>
            <a:r>
              <a:t>💬 « C'est trop cher »</a:t>
            </a:r>
          </a:p>
          <a:p>
            <a:pPr>
              <a:defRPr sz="900">
                <a:solidFill>
                  <a:srgbClr val="1F2D3D"/>
                </a:solidFill>
                <a:latin typeface="Arial"/>
              </a:defRPr>
            </a:pPr>
            <a:r>
              <a:t>↳ « Combien vous rapporte une seule pose de gainable ? Entre 8k€ et 15k€. Il vous suffit de signer un seul chantier via Gainable.fr pour rentabiliser votre adhésion pour les 10 prochaines années. 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4078224"/>
            <a:ext cx="5577840" cy="11704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" y="4078224"/>
            <a:ext cx="73152" cy="1170432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4151376"/>
            <a:ext cx="5321807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10B981"/>
                </a:solidFill>
                <a:latin typeface="Arial"/>
              </a:defRPr>
            </a:pPr>
            <a:r>
              <a:t>💬 « Je n'ai pas le temps pour les articles SEO »</a:t>
            </a:r>
          </a:p>
          <a:p>
            <a:pPr>
              <a:defRPr sz="900">
                <a:solidFill>
                  <a:srgbClr val="1F2D3D"/>
                </a:solidFill>
                <a:latin typeface="Arial"/>
              </a:defRPr>
            </a:pPr>
            <a:r>
              <a:t>↳ « Vous n'avez rien à écrire. Notre IA génère un article de 800 mots en 2 minutes. Vous saisissez le nom de la ville + 3 mots sur le chantier. L'IA fait le reste, optimisé SEO, prêt à publier en 1 clic.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4078224"/>
            <a:ext cx="5577840" cy="11704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80" y="4078224"/>
            <a:ext cx="73152" cy="1170432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91072" y="4151376"/>
            <a:ext cx="5321807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3B82F6"/>
                </a:solidFill>
                <a:latin typeface="Arial"/>
              </a:defRPr>
            </a:pPr>
            <a:r>
              <a:t>💬 « Je suis complet pour 6 mois »</a:t>
            </a:r>
          </a:p>
          <a:p>
            <a:pPr>
              <a:defRPr sz="900">
                <a:solidFill>
                  <a:srgbClr val="1F2D3D"/>
                </a:solidFill>
                <a:latin typeface="Arial"/>
              </a:defRPr>
            </a:pPr>
            <a:r>
              <a:t>↳ « Parfait ! Le SEO prend 3-6 mois. Commencer maintenant permet de blinder votre carnet pour la prochaine saison. Et avoir plus de demandes vous permet de choisir les chantiers les plus rentables. »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5760" y="5340096"/>
            <a:ext cx="5577840" cy="11704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5340096"/>
            <a:ext cx="73152" cy="1170432"/>
          </a:xfrm>
          <a:prstGeom prst="rect">
            <a:avLst/>
          </a:prstGeom>
          <a:solidFill>
            <a:srgbClr val="EF4444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5413248"/>
            <a:ext cx="5321807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EF4444"/>
                </a:solidFill>
                <a:latin typeface="Arial"/>
              </a:defRPr>
            </a:pPr>
            <a:r>
              <a:t>💬 « Je vais y réfléchir »</a:t>
            </a:r>
          </a:p>
          <a:p>
            <a:pPr>
              <a:defRPr sz="900">
                <a:solidFill>
                  <a:srgbClr val="1F2D3D"/>
                </a:solidFill>
                <a:latin typeface="Arial"/>
              </a:defRPr>
            </a:pPr>
            <a:r>
              <a:t>↳ « Je comprends. Pendant que vous réfléchissez, vos clients tapent 'gainable [Ville]' sur Google et appellent un artisan concurrent qui s'est décidé avant vous. Qu'est-ce qui vous retient vraiment ? » (Identifier l'objection cachée)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26480" y="5340096"/>
            <a:ext cx="5577840" cy="1170432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6480" y="5340096"/>
            <a:ext cx="73152" cy="1170432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91072" y="5413248"/>
            <a:ext cx="5321807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 b="1">
                <a:solidFill>
                  <a:srgbClr val="F97316"/>
                </a:solidFill>
                <a:latin typeface="Arial"/>
              </a:defRPr>
            </a:pPr>
            <a:r>
              <a:t>💬 « Je n'ai jamais entendu parler de vous »</a:t>
            </a:r>
          </a:p>
          <a:p>
            <a:pPr>
              <a:defRPr sz="900">
                <a:solidFill>
                  <a:srgbClr val="1F2D3D"/>
                </a:solidFill>
                <a:latin typeface="Arial"/>
              </a:defRPr>
            </a:pPr>
            <a:r>
              <a:t>↳ « C'est normal, on est récent et on grandit vite. Tapez 'climatisation gainable [Ville]' sur Google maintenant. On est en première page. Vos futurs clients, eux, nous voient déjà. »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D59B2B"/>
                </a:solidFill>
                <a:latin typeface="Arial"/>
              </a:defRPr>
            </a:pPr>
            <a:r>
              <a:t>10 · PLAN D'ATTAQUE</a:t>
            </a:r>
          </a:p>
          <a:p>
            <a:pPr>
              <a:defRPr sz="2400" b="1">
                <a:solidFill>
                  <a:srgbClr val="FFFFFF"/>
                </a:solidFill>
                <a:latin typeface="Arial"/>
              </a:defRPr>
            </a:pPr>
            <a:r>
              <a:t>La Routine du Succès — 5 Étapes Actionnables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11480" y="1600200"/>
            <a:ext cx="2103120" cy="5029200"/>
          </a:xfrm>
          <a:prstGeom prst="roundRect">
            <a:avLst/>
          </a:prstGeom>
          <a:solidFill>
            <a:srgbClr val="283A4F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1783080"/>
            <a:ext cx="731520" cy="502920"/>
          </a:xfrm>
          <a:prstGeom prst="round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18288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377440"/>
            <a:ext cx="1920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3B82F6"/>
                </a:solidFill>
                <a:latin typeface="Arial"/>
              </a:defRPr>
            </a:pPr>
            <a:r>
              <a:t>CIBLEZ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71800"/>
            <a:ext cx="1828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950">
                <a:solidFill>
                  <a:srgbClr val="FFFFFF"/>
                </a:solidFill>
                <a:latin typeface="Arial"/>
              </a:defRPr>
            </a:pPr>
            <a:r>
              <a:t>Identifiez 50 prospects CVC RGE par semaine sans partenaire exclusif sur leur secteur.</a:t>
            </a:r>
          </a:p>
          <a:p>
            <a:pPr>
              <a:defRPr sz="850" b="1">
                <a:solidFill>
                  <a:srgbClr val="3B82F6"/>
                </a:solidFill>
                <a:latin typeface="Arial"/>
              </a:defRPr>
            </a:pPr>
            <a:r>
              <a:t>LinkedIn Sales Nav · Societe.com · Google Maps (recherche artisans CVC + ville)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97480" y="1600200"/>
            <a:ext cx="2103120" cy="5029200"/>
          </a:xfrm>
          <a:prstGeom prst="roundRect">
            <a:avLst/>
          </a:prstGeom>
          <a:solidFill>
            <a:srgbClr val="283A4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83280" y="1783080"/>
            <a:ext cx="731520" cy="502920"/>
          </a:xfrm>
          <a:prstGeom prst="round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29000" y="18288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88920" y="2377440"/>
            <a:ext cx="1920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10B981"/>
                </a:solidFill>
                <a:latin typeface="Arial"/>
              </a:defRPr>
            </a:pPr>
            <a:r>
              <a:t>DIAGNOSTIQUEZ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971800"/>
            <a:ext cx="1828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950">
                <a:solidFill>
                  <a:srgbClr val="FFFFFF"/>
                </a:solidFill>
                <a:latin typeface="Arial"/>
              </a:defRPr>
            </a:pPr>
            <a:r>
              <a:t>Pour chaque prospect, effectuez le tri-check rapide avant tout contact.</a:t>
            </a:r>
          </a:p>
          <a:p>
            <a:pPr>
              <a:defRPr sz="850" b="1">
                <a:solidFill>
                  <a:srgbClr val="10B981"/>
                </a:solidFill>
                <a:latin typeface="Arial"/>
              </a:defRPr>
            </a:pPr>
            <a:r>
              <a:t>site:son-site.com · Note Google Maps · Marques posées (Daikin, Mitsu, Fujitsu)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983480" y="1600200"/>
            <a:ext cx="2103120" cy="5029200"/>
          </a:xfrm>
          <a:prstGeom prst="roundRect">
            <a:avLst/>
          </a:prstGeom>
          <a:solidFill>
            <a:srgbClr val="283A4F"/>
          </a:solidFill>
          <a:ln w="2540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669280" y="1783080"/>
            <a:ext cx="731520" cy="502920"/>
          </a:xfrm>
          <a:prstGeom prst="round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5000" y="18288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74920" y="2377440"/>
            <a:ext cx="1920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97316"/>
                </a:solidFill>
                <a:latin typeface="Arial"/>
              </a:defRPr>
            </a:pPr>
            <a:r>
              <a:t>CONTACTEZ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2971800"/>
            <a:ext cx="1828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950">
                <a:solidFill>
                  <a:srgbClr val="FFFFFF"/>
                </a:solidFill>
                <a:latin typeface="Arial"/>
              </a:defRPr>
            </a:pPr>
            <a:r>
              <a:t>Lancez la séquence mixte sur 5 jours (Social → Phoning → DM → Urgence).</a:t>
            </a:r>
          </a:p>
          <a:p>
            <a:pPr>
              <a:defRPr sz="850" b="1">
                <a:solidFill>
                  <a:srgbClr val="F97316"/>
                </a:solidFill>
                <a:latin typeface="Arial"/>
              </a:defRPr>
            </a:pPr>
            <a:r>
              <a:t>Instagram story-réaction · LinkedIn trigger · Phoning sujet 'gainable' · DM relance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69480" y="1600200"/>
            <a:ext cx="2103120" cy="5029200"/>
          </a:xfrm>
          <a:prstGeom prst="roundRect">
            <a:avLst/>
          </a:prstGeom>
          <a:solidFill>
            <a:srgbClr val="283A4F"/>
          </a:solidFill>
          <a:ln w="25400">
            <a:solidFill>
              <a:srgbClr val="D59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955279" y="1783080"/>
            <a:ext cx="731520" cy="502920"/>
          </a:xfrm>
          <a:prstGeom prst="roundRect">
            <a:avLst/>
          </a:prstGeom>
          <a:solidFill>
            <a:srgbClr val="D59B2B"/>
          </a:solidFill>
          <a:ln>
            <a:solidFill>
              <a:srgbClr val="D59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001000" y="18288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2377440"/>
            <a:ext cx="1920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D59B2B"/>
                </a:solidFill>
                <a:latin typeface="Arial"/>
              </a:defRPr>
            </a:pPr>
            <a:r>
              <a:t>DÉMONTREZ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2971800"/>
            <a:ext cx="1828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950">
                <a:solidFill>
                  <a:srgbClr val="FFFFFF"/>
                </a:solidFill>
                <a:latin typeface="Arial"/>
              </a:defRPr>
            </a:pPr>
            <a:r>
              <a:t>Faites la démo de 5 min en live avec l'effet WoW de l'écriture IA.</a:t>
            </a:r>
          </a:p>
          <a:p>
            <a:pPr>
              <a:defRPr sz="850" b="1">
                <a:solidFill>
                  <a:srgbClr val="D59B2B"/>
                </a:solidFill>
                <a:latin typeface="Arial"/>
              </a:defRPr>
            </a:pPr>
            <a:r>
              <a:t>IA article live · Carte exclusivité · Recherche Google en direct sous ses yeux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55480" y="1600200"/>
            <a:ext cx="2103120" cy="5029200"/>
          </a:xfrm>
          <a:prstGeom prst="roundRect">
            <a:avLst/>
          </a:prstGeom>
          <a:solidFill>
            <a:srgbClr val="283A4F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241280" y="1783080"/>
            <a:ext cx="731520" cy="502920"/>
          </a:xfrm>
          <a:prstGeom prst="roundRect">
            <a:avLst/>
          </a:prstGeom>
          <a:solidFill>
            <a:srgbClr val="EF4444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87000" y="1828800"/>
            <a:ext cx="640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rial"/>
              </a:defRPr>
            </a:pPr>
            <a: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46919" y="2377440"/>
            <a:ext cx="19202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EF4444"/>
                </a:solidFill>
                <a:latin typeface="Arial"/>
              </a:defRPr>
            </a:pPr>
            <a:r>
              <a:t>CLOSEZ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2971800"/>
            <a:ext cx="1828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950">
                <a:solidFill>
                  <a:srgbClr val="FFFFFF"/>
                </a:solidFill>
                <a:latin typeface="Arial"/>
              </a:defRPr>
            </a:pPr>
            <a:r>
              <a:t>Envoyez le lien Stripe avec le code promo EXCLU10 (-10%). Restez en ligne pendant la saisie.</a:t>
            </a:r>
          </a:p>
          <a:p>
            <a:pPr>
              <a:defRPr sz="850" b="1">
                <a:solidFill>
                  <a:srgbClr val="EF4444"/>
                </a:solidFill>
                <a:latin typeface="Arial"/>
              </a:defRPr>
            </a:pPr>
            <a:r>
              <a:t>765 € HT au lieu de 850 € HT · Code promo = accélérateur de décision immédiate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D59B2B"/>
          </a:solidFill>
          <a:ln>
            <a:solidFill>
              <a:srgbClr val="D59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6446520"/>
            <a:ext cx="112772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 b="1">
                <a:solidFill>
                  <a:srgbClr val="1F2D3D"/>
                </a:solidFill>
                <a:latin typeface="Arial"/>
              </a:defRPr>
            </a:pPr>
            <a:r>
              <a:t>Gainable.fr — contact@gainable.fr — Code promo : EXCLU10 — 0 revente de contact — Le client vous choisit — 0% commission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D59B2B"/>
                </a:solidFill>
                <a:latin typeface="Arial"/>
              </a:defRPr>
            </a:pPr>
            <a:r>
              <a:t>11 · POSITIONNEMENT CONCURRENTIEL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F2D3D"/>
                </a:solidFill>
                <a:latin typeface="Arial"/>
              </a:defRPr>
            </a:pPr>
            <a:r>
              <a:t>Comparatif — Gainable.fr vs Bilik, Travaux.com, Selocal, BNI, PagesJaunes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999713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481328"/>
            <a:ext cx="10515600" cy="292608"/>
          </a:xfrm>
          <a:prstGeom prst="roundRect">
            <a:avLst/>
          </a:prstGeom>
          <a:solidFill>
            <a:srgbClr val="1F2D3D"/>
          </a:solidFill>
          <a:ln>
            <a:solidFill>
              <a:srgbClr val="1F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900" b="1">
                <a:solidFill>
                  <a:srgbClr val="FFFFFF"/>
                </a:solidFill>
                <a:latin typeface="Arial"/>
              </a:defRPr>
            </a:pPr>
            <a:r>
              <a:t>Maîtrisez chaque concurrent pour positionner Gainable.fr sans hésitation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874519"/>
            <a:ext cx="11430000" cy="347472"/>
          </a:xfrm>
          <a:prstGeom prst="rect">
            <a:avLst/>
          </a:prstGeom>
          <a:solidFill>
            <a:srgbClr val="1F2D3D"/>
          </a:solidFill>
          <a:ln>
            <a:solidFill>
              <a:srgbClr val="1F2D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" y="1920240"/>
            <a:ext cx="21945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Critère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60903" y="1920240"/>
            <a:ext cx="17373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D59B2B"/>
                </a:solidFill>
                <a:latin typeface="Arial"/>
              </a:defRPr>
            </a:pPr>
            <a:r>
              <a:t>Gainable.fr 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35423" y="192024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Bilik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52743" y="1920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Travaux.com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1504" y="1920240"/>
            <a:ext cx="1280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Selocal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78824" y="1920240"/>
            <a:ext cx="10972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BNI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13264" y="1920240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Arial"/>
              </a:defRPr>
            </a:pPr>
            <a:r>
              <a:t>PagesJaunes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267712"/>
            <a:ext cx="11430000" cy="47548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" y="2340864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 b="1">
                <a:solidFill>
                  <a:srgbClr val="1F2D3D"/>
                </a:solidFill>
                <a:latin typeface="Arial"/>
              </a:defRPr>
            </a:pPr>
            <a:r>
              <a:t>Spécialisation CVC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59" y="2340864"/>
            <a:ext cx="1737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3B82F6"/>
                </a:solidFill>
                <a:latin typeface="Arial"/>
              </a:defRPr>
            </a:pPr>
            <a:r>
              <a:t>✅ 100% CVC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2340864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F97316"/>
                </a:solidFill>
                <a:latin typeface="Arial"/>
              </a:defRPr>
            </a:pPr>
            <a:r>
              <a:t>⚠️ BTP gén.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599" y="2340864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F97316"/>
                </a:solidFill>
                <a:latin typeface="Arial"/>
              </a:defRPr>
            </a:pPr>
            <a:r>
              <a:t>⚠️ Tous travaux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60" y="2340864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F97316"/>
                </a:solidFill>
                <a:latin typeface="Arial"/>
              </a:defRPr>
            </a:pPr>
            <a:r>
              <a:t>⚠️ Tous métiers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34086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EF4444"/>
                </a:solidFill>
                <a:latin typeface="Arial"/>
              </a:defRPr>
            </a:pPr>
            <a:r>
              <a:t>❌ Hors sujet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04120" y="2340864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EF4444"/>
                </a:solidFill>
                <a:latin typeface="Arial"/>
              </a:defRPr>
            </a:pPr>
            <a:r>
              <a:t>❌ Généraliste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761488"/>
            <a:ext cx="11430000" cy="475488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283464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 b="1">
                <a:solidFill>
                  <a:srgbClr val="1F2D3D"/>
                </a:solidFill>
                <a:latin typeface="Arial"/>
              </a:defRPr>
            </a:pPr>
            <a:r>
              <a:t>Modèle de lead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51759" y="2834640"/>
            <a:ext cx="1737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3B82F6"/>
                </a:solidFill>
                <a:latin typeface="Arial"/>
              </a:defRPr>
            </a:pPr>
            <a:r>
              <a:t>✅ Visibilité directe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79" y="2834640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10B981"/>
                </a:solidFill>
                <a:latin typeface="Arial"/>
              </a:defRPr>
            </a:pPr>
            <a:r>
              <a:t>✅ Mise en rel.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599" y="283464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EF4444"/>
                </a:solidFill>
                <a:latin typeface="Arial"/>
              </a:defRPr>
            </a:pPr>
            <a:r>
              <a:t>❌ Lead x3-5 conc.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52360" y="2834640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F97316"/>
                </a:solidFill>
                <a:latin typeface="Arial"/>
              </a:defRPr>
            </a:pPr>
            <a:r>
              <a:t>⚠️ Abon.+leads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9680" y="28346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10B981"/>
                </a:solidFill>
                <a:latin typeface="Arial"/>
              </a:defRPr>
            </a:pPr>
            <a:r>
              <a:t>✅ Recommanda.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04120" y="283464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EF4444"/>
                </a:solidFill>
                <a:latin typeface="Arial"/>
              </a:defRPr>
            </a:pPr>
            <a:r>
              <a:t>❌ Lead revendu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255264"/>
            <a:ext cx="11430000" cy="47548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3328416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 b="1">
                <a:solidFill>
                  <a:srgbClr val="1F2D3D"/>
                </a:solidFill>
                <a:latin typeface="Arial"/>
              </a:defRPr>
            </a:pPr>
            <a:r>
              <a:t>Prix annuel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51759" y="3328416"/>
            <a:ext cx="1737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3B82F6"/>
                </a:solidFill>
                <a:latin typeface="Arial"/>
              </a:defRPr>
            </a:pPr>
            <a:r>
              <a:t>✅ 850 € HT fixe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6279" y="3328416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F97316"/>
                </a:solidFill>
                <a:latin typeface="Arial"/>
              </a:defRPr>
            </a:pPr>
            <a:r>
              <a:t>⚠️ % commission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43599" y="3328416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F97316"/>
                </a:solidFill>
                <a:latin typeface="Arial"/>
              </a:defRPr>
            </a:pPr>
            <a:r>
              <a:t>⚠️ 40-80€/lead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2360" y="3328416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F97316"/>
                </a:solidFill>
                <a:latin typeface="Arial"/>
              </a:defRPr>
            </a:pPr>
            <a:r>
              <a:t>⚠️ Variable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869680" y="3328416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EF4444"/>
                </a:solidFill>
                <a:latin typeface="Arial"/>
              </a:defRPr>
            </a:pPr>
            <a:r>
              <a:t>❌ 1500-2000€+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04120" y="3328416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F97316"/>
                </a:solidFill>
                <a:latin typeface="Arial"/>
              </a:defRPr>
            </a:pPr>
            <a:r>
              <a:t>⚠️ Variable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4320" y="3749039"/>
            <a:ext cx="11430000" cy="475488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0040" y="3822191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 b="1">
                <a:solidFill>
                  <a:srgbClr val="1F2D3D"/>
                </a:solidFill>
                <a:latin typeface="Arial"/>
              </a:defRPr>
            </a:pPr>
            <a:r>
              <a:t>Commission chantier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651759" y="3822191"/>
            <a:ext cx="1737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3B82F6"/>
                </a:solidFill>
                <a:latin typeface="Arial"/>
              </a:defRPr>
            </a:pPr>
            <a:r>
              <a:t>✅ 0% commission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6279" y="3822191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EF4444"/>
                </a:solidFill>
                <a:latin typeface="Arial"/>
              </a:defRPr>
            </a:pPr>
            <a:r>
              <a:t>❌ 5-15% / vente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43599" y="3822191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10B981"/>
                </a:solidFill>
                <a:latin typeface="Arial"/>
              </a:defRPr>
            </a:pPr>
            <a:r>
              <a:t>✅ 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52360" y="3822191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10B981"/>
                </a:solidFill>
                <a:latin typeface="Arial"/>
              </a:defRPr>
            </a:pPr>
            <a:r>
              <a:t>✅ 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69680" y="3822191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10B981"/>
                </a:solidFill>
                <a:latin typeface="Arial"/>
              </a:defRPr>
            </a:pPr>
            <a:r>
              <a:t>✅ 0%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04120" y="3822191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10B981"/>
                </a:solidFill>
                <a:latin typeface="Arial"/>
              </a:defRPr>
            </a:pPr>
            <a:r>
              <a:t>✅ 0%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4320" y="4242816"/>
            <a:ext cx="11430000" cy="47548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20040" y="4315968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 b="1">
                <a:solidFill>
                  <a:srgbClr val="1F2D3D"/>
                </a:solidFill>
                <a:latin typeface="Arial"/>
              </a:defRPr>
            </a:pPr>
            <a:r>
              <a:t>SEO &amp; Visibilité Google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651759" y="4315968"/>
            <a:ext cx="1737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3B82F6"/>
                </a:solidFill>
                <a:latin typeface="Arial"/>
              </a:defRPr>
            </a:pPr>
            <a:r>
              <a:t>✅ +58k pages indexées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26279" y="4315968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F97316"/>
                </a:solidFill>
                <a:latin typeface="Arial"/>
              </a:defRPr>
            </a:pPr>
            <a:r>
              <a:t>⚠️ Quelques pgs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943599" y="4315968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10B981"/>
                </a:solidFill>
                <a:latin typeface="Arial"/>
              </a:defRPr>
            </a:pPr>
            <a:r>
              <a:t>✅ Forte autorité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52360" y="4315968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F97316"/>
                </a:solidFill>
                <a:latin typeface="Arial"/>
              </a:defRPr>
            </a:pPr>
            <a:r>
              <a:t>⚠️ Faible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869680" y="4315968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EF4444"/>
                </a:solidFill>
                <a:latin typeface="Arial"/>
              </a:defRPr>
            </a:pPr>
            <a:r>
              <a:t>❌ 0 SEO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04120" y="4315968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F97316"/>
                </a:solidFill>
                <a:latin typeface="Arial"/>
              </a:defRPr>
            </a:pPr>
            <a:r>
              <a:t>⚠️ Vieillissant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4320" y="4736592"/>
            <a:ext cx="11430000" cy="475488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20040" y="4809744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 b="1">
                <a:solidFill>
                  <a:srgbClr val="1F2D3D"/>
                </a:solidFill>
                <a:latin typeface="Arial"/>
              </a:defRPr>
            </a:pPr>
            <a:r>
              <a:t>0 revente de contact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651759" y="4809744"/>
            <a:ext cx="1737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3B82F6"/>
                </a:solidFill>
                <a:latin typeface="Arial"/>
              </a:defRPr>
            </a:pPr>
            <a:r>
              <a:t>✅ Client vous choisit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26279" y="4809744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10B981"/>
                </a:solidFill>
                <a:latin typeface="Arial"/>
              </a:defRPr>
            </a:pPr>
            <a:r>
              <a:t>✅ Contact direct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43599" y="4809744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EF4444"/>
                </a:solidFill>
                <a:latin typeface="Arial"/>
              </a:defRPr>
            </a:pPr>
            <a:r>
              <a:t>❌ Lead x3-5 conc.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452360" y="4809744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F97316"/>
                </a:solidFill>
                <a:latin typeface="Arial"/>
              </a:defRPr>
            </a:pPr>
            <a:r>
              <a:t>⚠️ Variable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869680" y="4809744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10B981"/>
                </a:solidFill>
                <a:latin typeface="Arial"/>
              </a:defRPr>
            </a:pPr>
            <a:r>
              <a:t>✅ Recommandation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104120" y="4809744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EF4444"/>
                </a:solidFill>
                <a:latin typeface="Arial"/>
              </a:defRPr>
            </a:pPr>
            <a:r>
              <a:t>❌ Lead revendu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74320" y="5230368"/>
            <a:ext cx="11430000" cy="475488"/>
          </a:xfrm>
          <a:prstGeom prst="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20040" y="53035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 b="1">
                <a:solidFill>
                  <a:srgbClr val="1F2D3D"/>
                </a:solidFill>
                <a:latin typeface="Arial"/>
              </a:defRPr>
            </a:pPr>
            <a:r>
              <a:t>IA SEO intégrée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651759" y="5303520"/>
            <a:ext cx="1737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3B82F6"/>
                </a:solidFill>
                <a:latin typeface="Arial"/>
              </a:defRPr>
            </a:pPr>
            <a:r>
              <a:t>✅ IA native 2 min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526279" y="5303520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EF4444"/>
                </a:solidFill>
                <a:latin typeface="Arial"/>
              </a:defRPr>
            </a:pPr>
            <a:r>
              <a:t>❌ Non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943599" y="530352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EF4444"/>
                </a:solidFill>
                <a:latin typeface="Arial"/>
              </a:defRPr>
            </a:pPr>
            <a:r>
              <a:t>❌ Non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52360" y="5303520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EF4444"/>
                </a:solidFill>
                <a:latin typeface="Arial"/>
              </a:defRPr>
            </a:pPr>
            <a:r>
              <a:t>❌ Non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869680" y="53035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EF4444"/>
                </a:solidFill>
                <a:latin typeface="Arial"/>
              </a:defRPr>
            </a:pPr>
            <a:r>
              <a:t>❌ Non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5303520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EF4444"/>
                </a:solidFill>
                <a:latin typeface="Arial"/>
              </a:defRPr>
            </a:pPr>
            <a:r>
              <a:t>❌ Non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4320" y="5724144"/>
            <a:ext cx="11430000" cy="475488"/>
          </a:xfrm>
          <a:prstGeom prst="rect">
            <a:avLst/>
          </a:prstGeom>
          <a:solidFill>
            <a:srgbClr val="FFFFFF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20040" y="5797296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850" b="1">
                <a:solidFill>
                  <a:srgbClr val="1F2D3D"/>
                </a:solidFill>
                <a:latin typeface="Arial"/>
              </a:defRPr>
            </a:pPr>
            <a:r>
              <a:t>Complémentaire ?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651759" y="5797296"/>
            <a:ext cx="17373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1">
                <a:solidFill>
                  <a:srgbClr val="3B82F6"/>
                </a:solidFill>
                <a:latin typeface="Arial"/>
              </a:defRPr>
            </a:pPr>
            <a:r>
              <a:t>—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526279" y="5797296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10B981"/>
                </a:solidFill>
                <a:latin typeface="Arial"/>
              </a:defRPr>
            </a:pPr>
            <a:r>
              <a:t>✅ Oui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943599" y="5797296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F97316"/>
                </a:solidFill>
                <a:latin typeface="Arial"/>
              </a:defRPr>
            </a:pPr>
            <a:r>
              <a:t>⚠️ Éviter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52360" y="5797296"/>
            <a:ext cx="12801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F97316"/>
                </a:solidFill>
                <a:latin typeface="Arial"/>
              </a:defRPr>
            </a:pPr>
            <a:r>
              <a:t>⚠️ Possible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869680" y="5797296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10B981"/>
                </a:solidFill>
                <a:latin typeface="Arial"/>
              </a:defRPr>
            </a:pPr>
            <a:r>
              <a:t>✅ Très bien !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104120" y="5797296"/>
            <a:ext cx="1371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00" b="0">
                <a:solidFill>
                  <a:srgbClr val="F97316"/>
                </a:solidFill>
                <a:latin typeface="Arial"/>
              </a:defRPr>
            </a:pPr>
            <a:r>
              <a:t>⚠️ Faible valeur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274320" y="6373368"/>
            <a:ext cx="11430000" cy="384048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D59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57200" y="6400800"/>
            <a:ext cx="110642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1F2D3D"/>
                </a:solidFill>
                <a:latin typeface="Arial"/>
              </a:defRPr>
            </a:pPr>
            <a:r>
              <a:t>💡 BNI = complément parfait (réseau humain chaud). Travaux.com = anti-modèle à citer : « Vous connaissez le stress d'appeler en 3 min avant 4 concurrents pour brader vos marges ? Chez nous, le client vous appelle VOUS seul. »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D59B2B"/>
                </a:solidFill>
                <a:latin typeface="Arial"/>
              </a:defRPr>
            </a:pPr>
            <a:r>
              <a:t>12 · MAILLAGE DIGITAL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F2D3D"/>
                </a:solidFill>
                <a:latin typeface="Arial"/>
              </a:defRPr>
            </a:pPr>
            <a:r>
              <a:t>L'Écosystème de Visibilité Gainable.fr — Vue Globale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999713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389120" y="1508760"/>
            <a:ext cx="3383280" cy="1005840"/>
          </a:xfrm>
          <a:prstGeom prst="roundRect">
            <a:avLst/>
          </a:prstGeom>
          <a:solidFill>
            <a:srgbClr val="1F2D3D"/>
          </a:solidFill>
          <a:ln w="31750">
            <a:solidFill>
              <a:srgbClr val="D59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80560" y="1600200"/>
            <a:ext cx="3200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D59B2B"/>
                </a:solidFill>
                <a:latin typeface="Arial"/>
              </a:defRPr>
            </a:pPr>
            <a:r>
              <a:t>Gainable.fr</a:t>
            </a:r>
          </a:p>
          <a:p>
            <a:pPr algn="ctr">
              <a:defRPr sz="850">
                <a:solidFill>
                  <a:srgbClr val="FFFFFF"/>
                </a:solidFill>
                <a:latin typeface="Arial"/>
              </a:defRPr>
            </a:pPr>
            <a:r>
              <a:t>Hub Central • +58k pages • 3 pays • 100% CVC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2651760"/>
            <a:ext cx="196596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2651760"/>
            <a:ext cx="1965960" cy="64008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79" y="2743200"/>
            <a:ext cx="17830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3B82F6"/>
                </a:solidFill>
                <a:latin typeface="Arial"/>
              </a:defRPr>
            </a:pPr>
            <a:r>
              <a:t>🔍 SEO Google</a:t>
            </a:r>
          </a:p>
          <a:p>
            <a:pPr>
              <a:spcAft>
                <a:spcPts val="200"/>
              </a:spcAft>
              <a:defRPr sz="850">
                <a:solidFill>
                  <a:srgbClr val="64748B"/>
                </a:solidFill>
                <a:latin typeface="Arial"/>
              </a:defRPr>
            </a:pPr>
            <a:r>
              <a:t>• Articles géolocalisés</a:t>
            </a:r>
          </a:p>
          <a:p>
            <a:pPr>
              <a:spcAft>
                <a:spcPts val="200"/>
              </a:spcAft>
              <a:defRPr sz="850">
                <a:solidFill>
                  <a:srgbClr val="64748B"/>
                </a:solidFill>
                <a:latin typeface="Arial"/>
              </a:defRPr>
            </a:pPr>
            <a:r>
              <a:t>• Mots-clés CVC longue traîne</a:t>
            </a:r>
          </a:p>
          <a:p>
            <a:pPr>
              <a:spcAft>
                <a:spcPts val="200"/>
              </a:spcAft>
              <a:defRPr sz="850">
                <a:solidFill>
                  <a:srgbClr val="64748B"/>
                </a:solidFill>
                <a:latin typeface="Arial"/>
              </a:defRPr>
            </a:pPr>
            <a:r>
              <a:t>• Rich Snippets JSON-LD</a:t>
            </a:r>
          </a:p>
          <a:p>
            <a:pPr>
              <a:spcAft>
                <a:spcPts val="200"/>
              </a:spcAft>
              <a:defRPr sz="850">
                <a:solidFill>
                  <a:srgbClr val="64748B"/>
                </a:solidFill>
                <a:latin typeface="Arial"/>
              </a:defRPr>
            </a:pPr>
            <a:r>
              <a:t>• Autorité domaine collective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23160" y="2651760"/>
            <a:ext cx="196596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423160" y="2651760"/>
            <a:ext cx="1965960" cy="640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514600" y="2743200"/>
            <a:ext cx="17830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10B981"/>
                </a:solidFill>
                <a:latin typeface="Arial"/>
              </a:defRPr>
            </a:pPr>
            <a:r>
              <a:t>🌐 Site Officiel</a:t>
            </a:r>
          </a:p>
          <a:p>
            <a:pPr>
              <a:spcAft>
                <a:spcPts val="200"/>
              </a:spcAft>
              <a:defRPr sz="850">
                <a:solidFill>
                  <a:srgbClr val="64748B"/>
                </a:solidFill>
                <a:latin typeface="Arial"/>
              </a:defRPr>
            </a:pPr>
            <a:r>
              <a:t>• Fiche Pro optimisée</a:t>
            </a:r>
          </a:p>
          <a:p>
            <a:pPr>
              <a:spcAft>
                <a:spcPts val="200"/>
              </a:spcAft>
              <a:defRPr sz="850">
                <a:solidFill>
                  <a:srgbClr val="64748B"/>
                </a:solidFill>
                <a:latin typeface="Arial"/>
              </a:defRPr>
            </a:pPr>
            <a:r>
              <a:t>• Photos de chantiers</a:t>
            </a:r>
          </a:p>
          <a:p>
            <a:pPr>
              <a:spcAft>
                <a:spcPts val="200"/>
              </a:spcAft>
              <a:defRPr sz="850">
                <a:solidFill>
                  <a:srgbClr val="64748B"/>
                </a:solidFill>
                <a:latin typeface="Arial"/>
              </a:defRPr>
            </a:pPr>
            <a:r>
              <a:t>• Certifications RGE</a:t>
            </a:r>
          </a:p>
          <a:p>
            <a:pPr>
              <a:spcAft>
                <a:spcPts val="200"/>
              </a:spcAft>
              <a:defRPr sz="850">
                <a:solidFill>
                  <a:srgbClr val="64748B"/>
                </a:solidFill>
                <a:latin typeface="Arial"/>
              </a:defRPr>
            </a:pPr>
            <a:r>
              <a:t>• Coordonnées directes (0%)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3440" y="4526280"/>
            <a:ext cx="196596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63440" y="4526280"/>
            <a:ext cx="1965960" cy="64008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79" y="4617720"/>
            <a:ext cx="17830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F97316"/>
                </a:solidFill>
                <a:latin typeface="Arial"/>
              </a:defRPr>
            </a:pPr>
            <a:r>
              <a:t>📱 Réseaux Sociaux</a:t>
            </a:r>
          </a:p>
          <a:p>
            <a:pPr>
              <a:spcAft>
                <a:spcPts val="200"/>
              </a:spcAft>
              <a:defRPr sz="850">
                <a:solidFill>
                  <a:srgbClr val="64748B"/>
                </a:solidFill>
                <a:latin typeface="Arial"/>
              </a:defRPr>
            </a:pPr>
            <a:r>
              <a:t>• Instagram → leads DM</a:t>
            </a:r>
          </a:p>
          <a:p>
            <a:pPr>
              <a:spcAft>
                <a:spcPts val="200"/>
              </a:spcAft>
              <a:defRPr sz="850">
                <a:solidFill>
                  <a:srgbClr val="64748B"/>
                </a:solidFill>
                <a:latin typeface="Arial"/>
              </a:defRPr>
            </a:pPr>
            <a:r>
              <a:t>• LinkedIn → B2B</a:t>
            </a:r>
          </a:p>
          <a:p>
            <a:pPr>
              <a:spcAft>
                <a:spcPts val="200"/>
              </a:spcAft>
              <a:defRPr sz="850">
                <a:solidFill>
                  <a:srgbClr val="64748B"/>
                </a:solidFill>
                <a:latin typeface="Arial"/>
              </a:defRPr>
            </a:pPr>
            <a:r>
              <a:t>• Signaux sociaux Google</a:t>
            </a:r>
          </a:p>
          <a:p>
            <a:pPr>
              <a:spcAft>
                <a:spcPts val="200"/>
              </a:spcAft>
              <a:defRPr sz="850">
                <a:solidFill>
                  <a:srgbClr val="64748B"/>
                </a:solidFill>
                <a:latin typeface="Arial"/>
              </a:defRPr>
            </a:pPr>
            <a:r>
              <a:t>• Bouche-à-oreille digital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95160" y="2651760"/>
            <a:ext cx="196596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95160" y="2651760"/>
            <a:ext cx="1965960" cy="64008"/>
          </a:xfrm>
          <a:prstGeom prst="rect">
            <a:avLst/>
          </a:prstGeom>
          <a:solidFill>
            <a:srgbClr val="EF4444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86600" y="2743200"/>
            <a:ext cx="17830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EF4444"/>
                </a:solidFill>
                <a:latin typeface="Arial"/>
              </a:defRPr>
            </a:pPr>
            <a:r>
              <a:t>📍 Google Maps / GMB</a:t>
            </a:r>
          </a:p>
          <a:p>
            <a:pPr>
              <a:spcAft>
                <a:spcPts val="200"/>
              </a:spcAft>
              <a:defRPr sz="850">
                <a:solidFill>
                  <a:srgbClr val="64748B"/>
                </a:solidFill>
                <a:latin typeface="Arial"/>
              </a:defRPr>
            </a:pPr>
            <a:r>
              <a:t>• Backlink Gainable→GMB</a:t>
            </a:r>
          </a:p>
          <a:p>
            <a:pPr>
              <a:spcAft>
                <a:spcPts val="200"/>
              </a:spcAft>
              <a:defRPr sz="850">
                <a:solidFill>
                  <a:srgbClr val="64748B"/>
                </a:solidFill>
                <a:latin typeface="Arial"/>
              </a:defRPr>
            </a:pPr>
            <a:r>
              <a:t>• Avis croisés</a:t>
            </a:r>
          </a:p>
          <a:p>
            <a:pPr>
              <a:spcAft>
                <a:spcPts val="200"/>
              </a:spcAft>
              <a:defRPr sz="850">
                <a:solidFill>
                  <a:srgbClr val="64748B"/>
                </a:solidFill>
                <a:latin typeface="Arial"/>
              </a:defRPr>
            </a:pPr>
            <a:r>
              <a:t>• Pack Local Google</a:t>
            </a:r>
          </a:p>
          <a:p>
            <a:pPr>
              <a:spcAft>
                <a:spcPts val="200"/>
              </a:spcAft>
              <a:defRPr sz="850">
                <a:solidFill>
                  <a:srgbClr val="64748B"/>
                </a:solidFill>
                <a:latin typeface="Arial"/>
              </a:defRPr>
            </a:pPr>
            <a:r>
              <a:t>• Requêtes 'près de moi'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44000" y="2651760"/>
            <a:ext cx="196596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D59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144000" y="2651760"/>
            <a:ext cx="1965960" cy="64008"/>
          </a:xfrm>
          <a:prstGeom prst="rect">
            <a:avLst/>
          </a:prstGeom>
          <a:solidFill>
            <a:srgbClr val="D59B2B"/>
          </a:solidFill>
          <a:ln>
            <a:solidFill>
              <a:srgbClr val="D59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0" y="2743200"/>
            <a:ext cx="17830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D59B2B"/>
                </a:solidFill>
                <a:latin typeface="Arial"/>
              </a:defRPr>
            </a:pPr>
            <a:r>
              <a:t>✍️ Contenu IA</a:t>
            </a:r>
          </a:p>
          <a:p>
            <a:pPr>
              <a:spcAft>
                <a:spcPts val="200"/>
              </a:spcAft>
              <a:defRPr sz="850">
                <a:solidFill>
                  <a:srgbClr val="64748B"/>
                </a:solidFill>
                <a:latin typeface="Arial"/>
              </a:defRPr>
            </a:pPr>
            <a:r>
              <a:t>• 10 articles/mois</a:t>
            </a:r>
          </a:p>
          <a:p>
            <a:pPr>
              <a:spcAft>
                <a:spcPts val="200"/>
              </a:spcAft>
              <a:defRPr sz="850">
                <a:solidFill>
                  <a:srgbClr val="64748B"/>
                </a:solidFill>
                <a:latin typeface="Arial"/>
              </a:defRPr>
            </a:pPr>
            <a:r>
              <a:t>• 120/an par expert</a:t>
            </a:r>
          </a:p>
          <a:p>
            <a:pPr>
              <a:spcAft>
                <a:spcPts val="200"/>
              </a:spcAft>
              <a:defRPr sz="850">
                <a:solidFill>
                  <a:srgbClr val="64748B"/>
                </a:solidFill>
                <a:latin typeface="Arial"/>
              </a:defRPr>
            </a:pPr>
            <a:r>
              <a:t>• FAQ JSON-LD</a:t>
            </a:r>
          </a:p>
          <a:p>
            <a:pPr>
              <a:spcAft>
                <a:spcPts val="200"/>
              </a:spcAft>
              <a:defRPr sz="850">
                <a:solidFill>
                  <a:srgbClr val="64748B"/>
                </a:solidFill>
                <a:latin typeface="Arial"/>
              </a:defRPr>
            </a:pPr>
            <a:r>
              <a:t>• Cocon sémantique auto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1508760"/>
            <a:ext cx="1965960" cy="2011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663440" y="1508760"/>
            <a:ext cx="1965960" cy="64008"/>
          </a:xfrm>
          <a:prstGeom prst="rect">
            <a:avLst/>
          </a:prstGeom>
          <a:solidFill>
            <a:srgbClr val="8B5CF6"/>
          </a:solidFill>
          <a:ln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79" y="1600200"/>
            <a:ext cx="178308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8B5CF6"/>
                </a:solidFill>
                <a:latin typeface="Arial"/>
              </a:defRPr>
            </a:pPr>
            <a:r>
              <a:t>🤖 IA &amp; AEO</a:t>
            </a:r>
          </a:p>
          <a:p>
            <a:pPr>
              <a:spcAft>
                <a:spcPts val="200"/>
              </a:spcAft>
              <a:defRPr sz="850">
                <a:solidFill>
                  <a:srgbClr val="64748B"/>
                </a:solidFill>
                <a:latin typeface="Arial"/>
              </a:defRPr>
            </a:pPr>
            <a:r>
              <a:t>• ChatGPT, Gemini, Perplexity</a:t>
            </a:r>
          </a:p>
          <a:p>
            <a:pPr>
              <a:spcAft>
                <a:spcPts val="200"/>
              </a:spcAft>
              <a:defRPr sz="850">
                <a:solidFill>
                  <a:srgbClr val="64748B"/>
                </a:solidFill>
                <a:latin typeface="Arial"/>
              </a:defRPr>
            </a:pPr>
            <a:r>
              <a:t>• Réponses directes IA (AEO)</a:t>
            </a:r>
          </a:p>
          <a:p>
            <a:pPr>
              <a:spcAft>
                <a:spcPts val="200"/>
              </a:spcAft>
              <a:defRPr sz="850">
                <a:solidFill>
                  <a:srgbClr val="64748B"/>
                </a:solidFill>
                <a:latin typeface="Arial"/>
              </a:defRPr>
            </a:pPr>
            <a:r>
              <a:t>• Schema.org complet</a:t>
            </a:r>
          </a:p>
          <a:p>
            <a:pPr>
              <a:spcAft>
                <a:spcPts val="200"/>
              </a:spcAft>
              <a:defRPr sz="850">
                <a:solidFill>
                  <a:srgbClr val="64748B"/>
                </a:solidFill>
                <a:latin typeface="Arial"/>
              </a:defRPr>
            </a:pPr>
            <a:r>
              <a:t>• Position 0 générative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20040" y="6400800"/>
            <a:ext cx="11430000" cy="347472"/>
          </a:xfrm>
          <a:prstGeom prst="roundRect">
            <a:avLst/>
          </a:prstGeom>
          <a:solidFill>
            <a:srgbClr val="EFF6FF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6428232"/>
            <a:ext cx="111556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1">
                <a:solidFill>
                  <a:srgbClr val="3B82F6"/>
                </a:solidFill>
                <a:latin typeface="Arial"/>
              </a:defRPr>
            </a:pPr>
            <a:r>
              <a:t>⚡ Effet de Maillage = Amplification Exponentielle : Article publié → Indexé Google → Partagé Instagram → Cité par l'IA → Visible sur Maps → L'artisan reçoit des appels sans rien faire.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D59B2B"/>
                </a:solidFill>
                <a:latin typeface="Arial"/>
              </a:defRPr>
            </a:pPr>
            <a:r>
              <a:t>13 · STRATÉGIE MAILLAGE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F2D3D"/>
                </a:solidFill>
                <a:latin typeface="Arial"/>
              </a:defRPr>
            </a:pPr>
            <a:r>
              <a:t>Les 3 Phases du Maillage — De l'Ancrage à la Dominance Locale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417320"/>
            <a:ext cx="999713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65760" y="1536192"/>
            <a:ext cx="3749039" cy="5120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536192"/>
            <a:ext cx="3749039" cy="91440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600200"/>
            <a:ext cx="3474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📍  Phase 1 — Ancrage</a:t>
            </a:r>
          </a:p>
          <a:p>
            <a:pPr>
              <a:defRPr sz="1000">
                <a:solidFill>
                  <a:srgbClr val="FFFFC8"/>
                </a:solidFill>
                <a:latin typeface="Arial"/>
              </a:defRPr>
            </a:pPr>
            <a:r>
              <a:t>Mois 1 à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23744"/>
            <a:ext cx="3474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1F2D3D"/>
                </a:solidFill>
                <a:latin typeface="Arial"/>
              </a:defRPr>
            </a:pPr>
            <a:r>
              <a:t>✓  Fiche Pro complète : description, certifications, marques posées</a:t>
            </a:r>
          </a:p>
          <a:p>
            <a:pPr>
              <a:spcAft>
                <a:spcPts val="400"/>
              </a:spcAft>
              <a:defRPr sz="950">
                <a:solidFill>
                  <a:srgbClr val="1F2D3D"/>
                </a:solidFill>
                <a:latin typeface="Arial"/>
              </a:defRPr>
            </a:pPr>
            <a:r>
              <a:t>✓  3 photos minimum de chantiers récents (intérieur + technique)</a:t>
            </a:r>
          </a:p>
          <a:p>
            <a:pPr>
              <a:spcAft>
                <a:spcPts val="400"/>
              </a:spcAft>
              <a:defRPr sz="950">
                <a:solidFill>
                  <a:srgbClr val="1F2D3D"/>
                </a:solidFill>
                <a:latin typeface="Arial"/>
              </a:defRPr>
            </a:pPr>
            <a:r>
              <a:t>✓  Coordonnées directes vérifiées (téléphone + email)</a:t>
            </a:r>
          </a:p>
          <a:p>
            <a:pPr>
              <a:spcAft>
                <a:spcPts val="400"/>
              </a:spcAft>
              <a:defRPr sz="950">
                <a:solidFill>
                  <a:srgbClr val="1F2D3D"/>
                </a:solidFill>
                <a:latin typeface="Arial"/>
              </a:defRPr>
            </a:pPr>
            <a:r>
              <a:t>✓  Zone géographique définie avec rayon d'intervention</a:t>
            </a:r>
          </a:p>
          <a:p>
            <a:pPr>
              <a:spcAft>
                <a:spcPts val="400"/>
              </a:spcAft>
              <a:defRPr sz="950">
                <a:solidFill>
                  <a:srgbClr val="1F2D3D"/>
                </a:solidFill>
                <a:latin typeface="Arial"/>
              </a:defRPr>
            </a:pPr>
            <a:r>
              <a:t>✓  Premier article SEO optimisé sur la ville principale</a:t>
            </a:r>
          </a:p>
          <a:p>
            <a:pPr>
              <a:spcAft>
                <a:spcPts val="400"/>
              </a:spcAft>
              <a:defRPr sz="950">
                <a:solidFill>
                  <a:srgbClr val="1F2D3D"/>
                </a:solidFill>
                <a:latin typeface="Arial"/>
              </a:defRPr>
            </a:pPr>
            <a:r>
              <a:t>✓  Lien depuis GMB → Gainable.fr activé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5696712"/>
            <a:ext cx="3566160" cy="8229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5760720"/>
            <a:ext cx="33832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3B82F6"/>
                </a:solidFill>
                <a:latin typeface="Arial"/>
              </a:defRPr>
            </a:pPr>
            <a:r>
              <a:t>🎯 Google commence à crawler et indexer la fiche — les fondations sont posées.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1536192"/>
            <a:ext cx="3749039" cy="5120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97680" y="1536192"/>
            <a:ext cx="3749039" cy="9144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1600200"/>
            <a:ext cx="3474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🕸️  Phase 2 — Maillage</a:t>
            </a:r>
          </a:p>
          <a:p>
            <a:pPr>
              <a:defRPr sz="1000">
                <a:solidFill>
                  <a:srgbClr val="FFFFC8"/>
                </a:solidFill>
                <a:latin typeface="Arial"/>
              </a:defRPr>
            </a:pPr>
            <a:r>
              <a:t>Mois 3 à 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523744"/>
            <a:ext cx="3474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1F2D3D"/>
                </a:solidFill>
                <a:latin typeface="Arial"/>
              </a:defRPr>
            </a:pPr>
            <a:r>
              <a:t>✓  8 à 10 articles/mois sur villes + technologies (gainable + multi-split…)</a:t>
            </a:r>
          </a:p>
          <a:p>
            <a:pPr>
              <a:spcAft>
                <a:spcPts val="400"/>
              </a:spcAft>
              <a:defRPr sz="950">
                <a:solidFill>
                  <a:srgbClr val="1F2D3D"/>
                </a:solidFill>
                <a:latin typeface="Arial"/>
              </a:defRPr>
            </a:pPr>
            <a:r>
              <a:t>✓  FAQ structurées JSON-LD intégrées pour Featured Snippets</a:t>
            </a:r>
          </a:p>
          <a:p>
            <a:pPr>
              <a:spcAft>
                <a:spcPts val="400"/>
              </a:spcAft>
              <a:defRPr sz="950">
                <a:solidFill>
                  <a:srgbClr val="1F2D3D"/>
                </a:solidFill>
                <a:latin typeface="Arial"/>
              </a:defRPr>
            </a:pPr>
            <a:r>
              <a:t>✓  Photos optimisées avec balises Alt localisées</a:t>
            </a:r>
          </a:p>
          <a:p>
            <a:pPr>
              <a:spcAft>
                <a:spcPts val="400"/>
              </a:spcAft>
              <a:defRPr sz="950">
                <a:solidFill>
                  <a:srgbClr val="1F2D3D"/>
                </a:solidFill>
                <a:latin typeface="Arial"/>
              </a:defRPr>
            </a:pPr>
            <a:r>
              <a:t>✓  Partages Instagram &amp; LinkedIn des articles publiés</a:t>
            </a:r>
          </a:p>
          <a:p>
            <a:pPr>
              <a:spcAft>
                <a:spcPts val="400"/>
              </a:spcAft>
              <a:defRPr sz="950">
                <a:solidFill>
                  <a:srgbClr val="1F2D3D"/>
                </a:solidFill>
                <a:latin typeface="Arial"/>
              </a:defRPr>
            </a:pPr>
            <a:r>
              <a:t>✓  Avis Google croisés avec la fiche Gainable.fr</a:t>
            </a:r>
          </a:p>
          <a:p>
            <a:pPr>
              <a:spcAft>
                <a:spcPts val="400"/>
              </a:spcAft>
              <a:defRPr sz="950">
                <a:solidFill>
                  <a:srgbClr val="1F2D3D"/>
                </a:solidFill>
                <a:latin typeface="Arial"/>
              </a:defRPr>
            </a:pPr>
            <a:r>
              <a:t>✓  Backlinks depuis partenaires locaux (électriciens, plombiers…)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5696712"/>
            <a:ext cx="3566160" cy="8229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60" y="5760720"/>
            <a:ext cx="33832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10B981"/>
                </a:solidFill>
                <a:latin typeface="Arial"/>
              </a:defRPr>
            </a:pPr>
            <a:r>
              <a:t>🎯 Premières positions sur requêtes longue traîne locales — premiers contacts entrants.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536192"/>
            <a:ext cx="3749039" cy="51206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D59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536192"/>
            <a:ext cx="3749039" cy="914400"/>
          </a:xfrm>
          <a:prstGeom prst="rect">
            <a:avLst/>
          </a:prstGeom>
          <a:solidFill>
            <a:srgbClr val="D59B2B"/>
          </a:solidFill>
          <a:ln>
            <a:solidFill>
              <a:srgbClr val="D59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1600200"/>
            <a:ext cx="3474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FFFFFF"/>
                </a:solidFill>
                <a:latin typeface="Arial"/>
              </a:defRPr>
            </a:pPr>
            <a:r>
              <a:t>🏆  Phase 3 — Dominance</a:t>
            </a:r>
          </a:p>
          <a:p>
            <a:pPr>
              <a:defRPr sz="1000">
                <a:solidFill>
                  <a:srgbClr val="FFFFC8"/>
                </a:solidFill>
                <a:latin typeface="Arial"/>
              </a:defRPr>
            </a:pPr>
            <a:r>
              <a:t>Mois 6 et au-delà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2523744"/>
            <a:ext cx="3474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950">
                <a:solidFill>
                  <a:srgbClr val="1F2D3D"/>
                </a:solidFill>
                <a:latin typeface="Arial"/>
              </a:defRPr>
            </a:pPr>
            <a:r>
              <a:t>✓  Cocon sémantique complet (50+ articles sur la zone)</a:t>
            </a:r>
          </a:p>
          <a:p>
            <a:pPr>
              <a:spcAft>
                <a:spcPts val="400"/>
              </a:spcAft>
              <a:defRPr sz="950">
                <a:solidFill>
                  <a:srgbClr val="1F2D3D"/>
                </a:solidFill>
                <a:latin typeface="Arial"/>
              </a:defRPr>
            </a:pPr>
            <a:r>
              <a:t>✓  Featured Snippets capturés via FAQ JSON-LD</a:t>
            </a:r>
          </a:p>
          <a:p>
            <a:pPr>
              <a:spcAft>
                <a:spcPts val="400"/>
              </a:spcAft>
              <a:defRPr sz="950">
                <a:solidFill>
                  <a:srgbClr val="1F2D3D"/>
                </a:solidFill>
                <a:latin typeface="Arial"/>
              </a:defRPr>
            </a:pPr>
            <a:r>
              <a:t>✓  Réponses IA (ChatGPT, Gemini) qui citent l'artisan</a:t>
            </a:r>
          </a:p>
          <a:p>
            <a:pPr>
              <a:spcAft>
                <a:spcPts val="400"/>
              </a:spcAft>
              <a:defRPr sz="950">
                <a:solidFill>
                  <a:srgbClr val="1F2D3D"/>
                </a:solidFill>
                <a:latin typeface="Arial"/>
              </a:defRPr>
            </a:pPr>
            <a:r>
              <a:t>✓  Backlinks naturels depuis blogs &amp; médias locaux</a:t>
            </a:r>
          </a:p>
          <a:p>
            <a:pPr>
              <a:spcAft>
                <a:spcPts val="400"/>
              </a:spcAft>
              <a:defRPr sz="950">
                <a:solidFill>
                  <a:srgbClr val="1F2D3D"/>
                </a:solidFill>
                <a:latin typeface="Arial"/>
              </a:defRPr>
            </a:pPr>
            <a:r>
              <a:t>✓  Page 1 sur requêtes principales de la zone</a:t>
            </a:r>
          </a:p>
          <a:p>
            <a:pPr>
              <a:spcAft>
                <a:spcPts val="400"/>
              </a:spcAft>
              <a:defRPr sz="950">
                <a:solidFill>
                  <a:srgbClr val="1F2D3D"/>
                </a:solidFill>
                <a:latin typeface="Arial"/>
              </a:defRPr>
            </a:pPr>
            <a:r>
              <a:t>✓  2 à 5 contacts qualifiés par mois en entrant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21040" y="5696712"/>
            <a:ext cx="3566160" cy="82296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D59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0" y="5760720"/>
            <a:ext cx="33832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1">
                <a:solidFill>
                  <a:srgbClr val="D59B2B"/>
                </a:solidFill>
                <a:latin typeface="Arial"/>
              </a:defRPr>
            </a:pPr>
            <a:r>
              <a:t>🎯 Leads entrants réguliers — l'artisan reçoit des appels sans prospecter.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D59B2B"/>
                </a:solidFill>
                <a:latin typeface="Arial"/>
              </a:defRPr>
            </a:pPr>
            <a:r>
              <a:t>14 · MINDSET &amp; ÉTAT D'ESPRIT</a:t>
            </a:r>
          </a:p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La Conviction qui Fait la Différence — Leche Forge et Rend Plus Fort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20040" y="1463040"/>
            <a:ext cx="5760720" cy="1463040"/>
          </a:xfrm>
          <a:prstGeom prst="roundRect">
            <a:avLst/>
          </a:prstGeom>
          <a:solidFill>
            <a:srgbClr val="283A4F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320040" y="1463040"/>
            <a:ext cx="73152" cy="1463040"/>
          </a:xfrm>
          <a:prstGeom prst="rect">
            <a:avLst/>
          </a:prstGeom>
          <a:solidFill>
            <a:srgbClr val="EF4444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4632" y="1554480"/>
            <a:ext cx="550468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EF4444"/>
                </a:solidFill>
                <a:latin typeface="Arial"/>
              </a:defRPr>
            </a:pPr>
            <a:r>
              <a:t>🔥  Le Refus n'est Pas un Échec</a:t>
            </a:r>
          </a:p>
          <a:p>
            <a:pPr>
              <a:spcAft>
                <a:spcPts val="300"/>
              </a:spcAft>
              <a:defRPr sz="850">
                <a:solidFill>
                  <a:srgbClr val="FFFFFF"/>
                </a:solidFill>
                <a:latin typeface="Arial"/>
              </a:defRPr>
            </a:pPr>
            <a:r>
              <a:t>Un 'non' = 'pas encore'. Sur 50 prospects : 10 décrochent, 3 sont intéressés, 1-2 signent. Ce ratio est NORMAL. Chaque refus rapproche la signature.</a:t>
            </a:r>
          </a:p>
          <a:p>
            <a:pPr>
              <a:defRPr sz="850" b="1">
                <a:solidFill>
                  <a:srgbClr val="EF4444"/>
                </a:solidFill>
                <a:latin typeface="Arial"/>
              </a:defRPr>
            </a:pPr>
            <a:r>
              <a:t>→ Fixez-vous un quota de refus : 15 'non'/jour = vous avez bien travaillé.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463040"/>
            <a:ext cx="5760720" cy="1463040"/>
          </a:xfrm>
          <a:prstGeom prst="roundRect">
            <a:avLst/>
          </a:prstGeom>
          <a:solidFill>
            <a:srgbClr val="283A4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63640" y="1463040"/>
            <a:ext cx="73152" cy="146304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8231" y="1554480"/>
            <a:ext cx="550468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3B82F6"/>
                </a:solidFill>
                <a:latin typeface="Arial"/>
              </a:defRPr>
            </a:pPr>
            <a:r>
              <a:t>🛡️  Croire en son Produit — Conviction Absolue</a:t>
            </a:r>
          </a:p>
          <a:p>
            <a:pPr>
              <a:spcAft>
                <a:spcPts val="300"/>
              </a:spcAft>
              <a:defRPr sz="850">
                <a:solidFill>
                  <a:srgbClr val="FFFFFF"/>
                </a:solidFill>
                <a:latin typeface="Arial"/>
              </a:defRPr>
            </a:pPr>
            <a:r>
              <a:t>Gainable.fr crée de la VRAIE valeur. L'IA rédige. Les pages sont indexées. Quand vous présentez, vous n'êtes pas en train de demander de l'argent — vous offrez une opportunité.</a:t>
            </a:r>
          </a:p>
          <a:p>
            <a:pPr>
              <a:defRPr sz="850" b="1">
                <a:solidFill>
                  <a:srgbClr val="3B82F6"/>
                </a:solidFill>
                <a:latin typeface="Arial"/>
              </a:defRPr>
            </a:pPr>
            <a:r>
              <a:t>→ Relisez 1 témoignage de partenaire satisfait chaque matin avant vos appels.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17520"/>
            <a:ext cx="5760720" cy="1463040"/>
          </a:xfrm>
          <a:prstGeom prst="roundRect">
            <a:avLst/>
          </a:prstGeom>
          <a:solidFill>
            <a:srgbClr val="283A4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3017520"/>
            <a:ext cx="73152" cy="146304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" y="3108960"/>
            <a:ext cx="550468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10B981"/>
                </a:solidFill>
                <a:latin typeface="Arial"/>
              </a:defRPr>
            </a:pPr>
            <a:r>
              <a:t>📈  La Règle des 50 Touches</a:t>
            </a:r>
          </a:p>
          <a:p>
            <a:pPr>
              <a:spcAft>
                <a:spcPts val="300"/>
              </a:spcAft>
              <a:defRPr sz="850">
                <a:solidFill>
                  <a:srgbClr val="FFFFFF"/>
                </a:solidFill>
                <a:latin typeface="Arial"/>
              </a:defRPr>
            </a:pPr>
            <a:r>
              <a:t>Un prospect signe après 5 à 7 touches en moyenne. La plupart des commerciaux abandonnent après 1-2. En suivant la cadence de 5 jours, vous allez là où les autres ne vont pas.</a:t>
            </a:r>
          </a:p>
          <a:p>
            <a:pPr>
              <a:defRPr sz="850" b="1">
                <a:solidFill>
                  <a:srgbClr val="10B981"/>
                </a:solidFill>
                <a:latin typeface="Arial"/>
              </a:defRPr>
            </a:pPr>
            <a:r>
              <a:t>→ Tracez CHAQUE action dans le CRM. Ne classez 'refus définitif' qu'après J5.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3017520"/>
            <a:ext cx="5760720" cy="1463040"/>
          </a:xfrm>
          <a:prstGeom prst="roundRect">
            <a:avLst/>
          </a:prstGeom>
          <a:solidFill>
            <a:srgbClr val="283A4F"/>
          </a:solidFill>
          <a:ln w="19050">
            <a:solidFill>
              <a:srgbClr val="D59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63640" y="3017520"/>
            <a:ext cx="73152" cy="1463040"/>
          </a:xfrm>
          <a:prstGeom prst="rect">
            <a:avLst/>
          </a:prstGeom>
          <a:solidFill>
            <a:srgbClr val="D59B2B"/>
          </a:solidFill>
          <a:ln>
            <a:solidFill>
              <a:srgbClr val="D59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1" y="3108960"/>
            <a:ext cx="550468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D59B2B"/>
                </a:solidFill>
                <a:latin typeface="Arial"/>
              </a:defRPr>
            </a:pPr>
            <a:r>
              <a:t>⚔️  Le Rituel du Guerrier</a:t>
            </a:r>
          </a:p>
          <a:p>
            <a:pPr>
              <a:spcAft>
                <a:spcPts val="300"/>
              </a:spcAft>
              <a:defRPr sz="850">
                <a:solidFill>
                  <a:srgbClr val="FFFFFF"/>
                </a:solidFill>
                <a:latin typeface="Arial"/>
              </a:defRPr>
            </a:pPr>
            <a:r>
              <a:t>Votre état d'esprit se détecte en 3 secondes à la voix. Un commercial fatigué transmet sa fatigue. La préparation mentale est un avantage compétitif concret.</a:t>
            </a:r>
          </a:p>
          <a:p>
            <a:pPr>
              <a:defRPr sz="850" b="1">
                <a:solidFill>
                  <a:srgbClr val="D59B2B"/>
                </a:solidFill>
                <a:latin typeface="Arial"/>
              </a:defRPr>
            </a:pPr>
            <a:r>
              <a:t>→ 2 min de respiration avant les appels. Debout pendant le phoning. Sourire — ça s'entend.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4572000"/>
            <a:ext cx="5760720" cy="1463040"/>
          </a:xfrm>
          <a:prstGeom prst="roundRect">
            <a:avLst/>
          </a:prstGeom>
          <a:solidFill>
            <a:srgbClr val="283A4F"/>
          </a:solidFill>
          <a:ln w="19050"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20040" y="4572000"/>
            <a:ext cx="73152" cy="1463040"/>
          </a:xfrm>
          <a:prstGeom prst="rect">
            <a:avLst/>
          </a:prstGeom>
          <a:solidFill>
            <a:srgbClr val="F97316"/>
          </a:solidFill>
          <a:ln>
            <a:solidFill>
              <a:srgbClr val="F9731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" y="4663440"/>
            <a:ext cx="550468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F97316"/>
                </a:solidFill>
                <a:latin typeface="Arial"/>
              </a:defRPr>
            </a:pPr>
            <a:r>
              <a:t>🌱  Planter et Ne Jamais Abandonner</a:t>
            </a:r>
          </a:p>
          <a:p>
            <a:pPr>
              <a:spcAft>
                <a:spcPts val="300"/>
              </a:spcAft>
              <a:defRPr sz="850">
                <a:solidFill>
                  <a:srgbClr val="FFFFFF"/>
                </a:solidFill>
                <a:latin typeface="Arial"/>
              </a:defRPr>
            </a:pPr>
            <a:r>
              <a:t>Un artisan qui dit 'non' en janvier peut signer en mars quand il voit son concurrent sur Google. Votre travail aujourd'hui génère des résultats dans 90 jours.</a:t>
            </a:r>
          </a:p>
          <a:p>
            <a:pPr>
              <a:defRPr sz="850" b="1">
                <a:solidFill>
                  <a:srgbClr val="F97316"/>
                </a:solidFill>
                <a:latin typeface="Arial"/>
              </a:defRPr>
            </a:pPr>
            <a:r>
              <a:t>→ Remontez dans vos 'refus de 3 mois' — c'est votre meilleure base de rappel.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4572000"/>
            <a:ext cx="5760720" cy="1463040"/>
          </a:xfrm>
          <a:prstGeom prst="roundRect">
            <a:avLst/>
          </a:prstGeom>
          <a:solidFill>
            <a:srgbClr val="283A4F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63640" y="4572000"/>
            <a:ext cx="73152" cy="1463040"/>
          </a:xfrm>
          <a:prstGeom prst="rect">
            <a:avLst/>
          </a:prstGeom>
          <a:solidFill>
            <a:srgbClr val="EF4444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1" y="4663440"/>
            <a:ext cx="5504688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EF4444"/>
                </a:solidFill>
                <a:latin typeface="Arial"/>
              </a:defRPr>
            </a:pPr>
            <a:r>
              <a:t>🏆  Célébrer Chaque Victoire</a:t>
            </a:r>
          </a:p>
          <a:p>
            <a:pPr>
              <a:spcAft>
                <a:spcPts val="300"/>
              </a:spcAft>
              <a:defRPr sz="850">
                <a:solidFill>
                  <a:srgbClr val="FFFFFF"/>
                </a:solidFill>
                <a:latin typeface="Arial"/>
              </a:defRPr>
            </a:pPr>
            <a:r>
              <a:t>Une vente à 850 € HT, c'est entre 85 € et 127 € de commission. Mais c'est aussi un artisan dont la vie va changer. Ce que l'on célèbre, on le reproduit.</a:t>
            </a:r>
          </a:p>
          <a:p>
            <a:pPr>
              <a:defRPr sz="850" b="1">
                <a:solidFill>
                  <a:srgbClr val="EF4444"/>
                </a:solidFill>
                <a:latin typeface="Arial"/>
              </a:defRPr>
            </a:pPr>
            <a:r>
              <a:t>→ Notez chaque vente dans un carnet visible. La liste grandit, ça motive.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D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2004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 b="1">
                <a:solidFill>
                  <a:srgbClr val="D59B2B"/>
                </a:solidFill>
                <a:latin typeface="Arial"/>
              </a:defRPr>
            </a:pPr>
            <a:r>
              <a:t>15 · VISION LONG TERME</a:t>
            </a:r>
          </a:p>
          <a:p>
            <a:pPr>
              <a:defRPr sz="2000" b="1">
                <a:solidFill>
                  <a:srgbClr val="FFFFFF"/>
                </a:solidFill>
                <a:latin typeface="Arial"/>
              </a:defRPr>
            </a:pPr>
            <a:r>
              <a:t>C'est un Marathon, Pas un Sprint — La Ligne du Temps SEO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89888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  <a:latin typeface="Arial"/>
              </a:defRPr>
            </a:pPr>
            <a:r>
              <a:t>La visibilité Google ne se construit pas en une nuit. Plus l'artisan est actif sur Gainable.fr, plus son autorité grandit et plus il domine sa zone.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880360"/>
            <a:ext cx="11277295" cy="91440"/>
          </a:xfrm>
          <a:prstGeom prst="rect">
            <a:avLst/>
          </a:prstGeom>
          <a:solidFill>
            <a:srgbClr val="374151"/>
          </a:solidFill>
          <a:ln>
            <a:solidFill>
              <a:srgbClr val="3741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2880360"/>
            <a:ext cx="2834640" cy="91440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508760" y="2798064"/>
            <a:ext cx="246888" cy="246888"/>
          </a:xfrm>
          <a:prstGeom prst="ellipse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7200" y="3200400"/>
            <a:ext cx="2743200" cy="3200400"/>
          </a:xfrm>
          <a:prstGeom prst="roundRect">
            <a:avLst/>
          </a:prstGeom>
          <a:solidFill>
            <a:srgbClr val="283A4F"/>
          </a:solidFill>
          <a:ln w="2540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3200400"/>
            <a:ext cx="2743200" cy="64008"/>
          </a:xfrm>
          <a:prstGeom prst="rect">
            <a:avLst/>
          </a:prstGeom>
          <a:solidFill>
            <a:srgbClr val="3B82F6"/>
          </a:solidFill>
          <a:ln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3264408"/>
            <a:ext cx="2468880" cy="3090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3B82F6"/>
                </a:solidFill>
                <a:latin typeface="Arial"/>
              </a:defRPr>
            </a:pPr>
            <a:r>
              <a:t>🌱  Mois 1-3</a:t>
            </a:r>
          </a:p>
          <a:p>
            <a:pPr>
              <a:spcAft>
                <a:spcPts val="800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FONDATIONS</a:t>
            </a:r>
          </a:p>
          <a:p>
            <a:pPr>
              <a:spcAft>
                <a:spcPts val="300"/>
              </a:spcAft>
              <a:defRPr sz="950">
                <a:solidFill>
                  <a:srgbClr val="64748B"/>
                </a:solidFill>
                <a:latin typeface="Arial"/>
              </a:defRPr>
            </a:pPr>
            <a:r>
              <a:t>• Fiche indexée par Google</a:t>
            </a:r>
          </a:p>
          <a:p>
            <a:pPr>
              <a:spcAft>
                <a:spcPts val="300"/>
              </a:spcAft>
              <a:defRPr sz="950">
                <a:solidFill>
                  <a:srgbClr val="64748B"/>
                </a:solidFill>
                <a:latin typeface="Arial"/>
              </a:defRPr>
            </a:pPr>
            <a:r>
              <a:t>• Premiers articles publiés</a:t>
            </a:r>
          </a:p>
          <a:p>
            <a:pPr>
              <a:spcAft>
                <a:spcPts val="300"/>
              </a:spcAft>
              <a:defRPr sz="950">
                <a:solidFill>
                  <a:srgbClr val="64748B"/>
                </a:solidFill>
                <a:latin typeface="Arial"/>
              </a:defRPr>
            </a:pPr>
            <a:r>
              <a:t>• Google commence à voir l'artisan</a:t>
            </a:r>
          </a:p>
        </p:txBody>
      </p:sp>
      <p:sp>
        <p:nvSpPr>
          <p:cNvPr id="10" name="Oval 9"/>
          <p:cNvSpPr/>
          <p:nvPr/>
        </p:nvSpPr>
        <p:spPr>
          <a:xfrm>
            <a:off x="4343400" y="2798064"/>
            <a:ext cx="246888" cy="246888"/>
          </a:xfrm>
          <a:prstGeom prst="ellipse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91840" y="3200400"/>
            <a:ext cx="2743200" cy="3200400"/>
          </a:xfrm>
          <a:prstGeom prst="roundRect">
            <a:avLst/>
          </a:prstGeom>
          <a:solidFill>
            <a:srgbClr val="283A4F"/>
          </a:solidFill>
          <a:ln w="254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1840" y="3200400"/>
            <a:ext cx="2743200" cy="64008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3264408"/>
            <a:ext cx="2468880" cy="3090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10B981"/>
                </a:solidFill>
                <a:latin typeface="Arial"/>
              </a:defRPr>
            </a:pPr>
            <a:r>
              <a:t>📈  Mois 3-6</a:t>
            </a:r>
          </a:p>
          <a:p>
            <a:pPr>
              <a:spcAft>
                <a:spcPts val="800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MONTÉE EN PUISSANCE</a:t>
            </a:r>
          </a:p>
          <a:p>
            <a:pPr>
              <a:spcAft>
                <a:spcPts val="300"/>
              </a:spcAft>
              <a:defRPr sz="950">
                <a:solidFill>
                  <a:srgbClr val="64748B"/>
                </a:solidFill>
                <a:latin typeface="Arial"/>
              </a:defRPr>
            </a:pPr>
            <a:r>
              <a:t>• Page 2-3 sur requêtes locales</a:t>
            </a:r>
          </a:p>
          <a:p>
            <a:pPr>
              <a:spcAft>
                <a:spcPts val="300"/>
              </a:spcAft>
              <a:defRPr sz="950">
                <a:solidFill>
                  <a:srgbClr val="64748B"/>
                </a:solidFill>
                <a:latin typeface="Arial"/>
              </a:defRPr>
            </a:pPr>
            <a:r>
              <a:t>• Premiers contacts entrants</a:t>
            </a:r>
          </a:p>
          <a:p>
            <a:pPr>
              <a:spcAft>
                <a:spcPts val="300"/>
              </a:spcAft>
              <a:defRPr sz="950">
                <a:solidFill>
                  <a:srgbClr val="64748B"/>
                </a:solidFill>
                <a:latin typeface="Arial"/>
              </a:defRPr>
            </a:pPr>
            <a:r>
              <a:t>• Confiance Google augmente</a:t>
            </a:r>
          </a:p>
        </p:txBody>
      </p:sp>
      <p:sp>
        <p:nvSpPr>
          <p:cNvPr id="14" name="Oval 13"/>
          <p:cNvSpPr/>
          <p:nvPr/>
        </p:nvSpPr>
        <p:spPr>
          <a:xfrm>
            <a:off x="7178040" y="2798064"/>
            <a:ext cx="246888" cy="246888"/>
          </a:xfrm>
          <a:prstGeom prst="ellipse">
            <a:avLst/>
          </a:prstGeom>
          <a:solidFill>
            <a:srgbClr val="D59B2B"/>
          </a:solidFill>
          <a:ln>
            <a:solidFill>
              <a:srgbClr val="D59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126480" y="3200400"/>
            <a:ext cx="2743200" cy="3200400"/>
          </a:xfrm>
          <a:prstGeom prst="roundRect">
            <a:avLst/>
          </a:prstGeom>
          <a:solidFill>
            <a:srgbClr val="283A4F"/>
          </a:solidFill>
          <a:ln w="25400">
            <a:solidFill>
              <a:srgbClr val="D59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26480" y="3200400"/>
            <a:ext cx="2743200" cy="64008"/>
          </a:xfrm>
          <a:prstGeom prst="rect">
            <a:avLst/>
          </a:prstGeom>
          <a:solidFill>
            <a:srgbClr val="D59B2B"/>
          </a:solidFill>
          <a:ln>
            <a:solidFill>
              <a:srgbClr val="D59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3264408"/>
            <a:ext cx="2468880" cy="3090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D59B2B"/>
                </a:solidFill>
                <a:latin typeface="Arial"/>
              </a:defRPr>
            </a:pPr>
            <a:r>
              <a:t>📞  Mois 6-12</a:t>
            </a:r>
          </a:p>
          <a:p>
            <a:pPr>
              <a:spcAft>
                <a:spcPts val="800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LEADS RÉGULIERS</a:t>
            </a:r>
          </a:p>
          <a:p>
            <a:pPr>
              <a:spcAft>
                <a:spcPts val="300"/>
              </a:spcAft>
              <a:defRPr sz="950">
                <a:solidFill>
                  <a:srgbClr val="64748B"/>
                </a:solidFill>
                <a:latin typeface="Arial"/>
              </a:defRPr>
            </a:pPr>
            <a:r>
              <a:t>• Page 1 sur requêtes clés</a:t>
            </a:r>
          </a:p>
          <a:p>
            <a:pPr>
              <a:spcAft>
                <a:spcPts val="300"/>
              </a:spcAft>
              <a:defRPr sz="950">
                <a:solidFill>
                  <a:srgbClr val="64748B"/>
                </a:solidFill>
                <a:latin typeface="Arial"/>
              </a:defRPr>
            </a:pPr>
            <a:r>
              <a:t>• 2-5 contacts qualifiés/mois</a:t>
            </a:r>
          </a:p>
          <a:p>
            <a:pPr>
              <a:spcAft>
                <a:spcPts val="300"/>
              </a:spcAft>
              <a:defRPr sz="950">
                <a:solidFill>
                  <a:srgbClr val="64748B"/>
                </a:solidFill>
                <a:latin typeface="Arial"/>
              </a:defRPr>
            </a:pPr>
            <a:r>
              <a:t>• ROI pleinement atteint</a:t>
            </a:r>
          </a:p>
        </p:txBody>
      </p:sp>
      <p:sp>
        <p:nvSpPr>
          <p:cNvPr id="18" name="Oval 17"/>
          <p:cNvSpPr/>
          <p:nvPr/>
        </p:nvSpPr>
        <p:spPr>
          <a:xfrm>
            <a:off x="10012680" y="2798064"/>
            <a:ext cx="246888" cy="246888"/>
          </a:xfrm>
          <a:prstGeom prst="ellipse">
            <a:avLst/>
          </a:prstGeom>
          <a:solidFill>
            <a:srgbClr val="EF4444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961120" y="3200400"/>
            <a:ext cx="2743200" cy="3200400"/>
          </a:xfrm>
          <a:prstGeom prst="roundRect">
            <a:avLst/>
          </a:prstGeom>
          <a:solidFill>
            <a:srgbClr val="283A4F"/>
          </a:solidFill>
          <a:ln w="254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61120" y="3200400"/>
            <a:ext cx="2743200" cy="64008"/>
          </a:xfrm>
          <a:prstGeom prst="rect">
            <a:avLst/>
          </a:prstGeom>
          <a:solidFill>
            <a:srgbClr val="EF4444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98280" y="3264408"/>
            <a:ext cx="2468880" cy="3090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900" b="1">
                <a:solidFill>
                  <a:srgbClr val="EF4444"/>
                </a:solidFill>
                <a:latin typeface="Arial"/>
              </a:defRPr>
            </a:pPr>
            <a:r>
              <a:t>🏆  12 mois+</a:t>
            </a:r>
          </a:p>
          <a:p>
            <a:pPr>
              <a:spcAft>
                <a:spcPts val="800"/>
              </a:spcAft>
              <a:defRPr sz="1100" b="1">
                <a:solidFill>
                  <a:srgbClr val="FFFFFF"/>
                </a:solidFill>
                <a:latin typeface="Arial"/>
              </a:defRPr>
            </a:pPr>
            <a:r>
              <a:t>DOMINANCE LOCALE</a:t>
            </a:r>
          </a:p>
          <a:p>
            <a:pPr>
              <a:spcAft>
                <a:spcPts val="300"/>
              </a:spcAft>
              <a:defRPr sz="950">
                <a:solidFill>
                  <a:srgbClr val="64748B"/>
                </a:solidFill>
                <a:latin typeface="Arial"/>
              </a:defRPr>
            </a:pPr>
            <a:r>
              <a:t>• Référent SEO sur la zone</a:t>
            </a:r>
          </a:p>
          <a:p>
            <a:pPr>
              <a:spcAft>
                <a:spcPts val="300"/>
              </a:spcAft>
              <a:defRPr sz="950">
                <a:solidFill>
                  <a:srgbClr val="64748B"/>
                </a:solidFill>
                <a:latin typeface="Arial"/>
              </a:defRPr>
            </a:pPr>
            <a:r>
              <a:t>• Concurrent difficile à déloger</a:t>
            </a:r>
          </a:p>
          <a:p>
            <a:pPr>
              <a:spcAft>
                <a:spcPts val="300"/>
              </a:spcAft>
              <a:defRPr sz="950">
                <a:solidFill>
                  <a:srgbClr val="64748B"/>
                </a:solidFill>
                <a:latin typeface="Arial"/>
              </a:defRPr>
            </a:pPr>
            <a:r>
              <a:t>• Chantiers premium en priorité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6400800"/>
            <a:ext cx="11277295" cy="347472"/>
          </a:xfrm>
          <a:prstGeom prst="roundRect">
            <a:avLst/>
          </a:prstGeom>
          <a:solidFill>
            <a:srgbClr val="1B2532"/>
          </a:solidFill>
          <a:ln w="19050">
            <a:solidFill>
              <a:srgbClr val="D59B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428232"/>
            <a:ext cx="10972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1">
                <a:solidFill>
                  <a:srgbClr val="D59B2B"/>
                </a:solidFill>
                <a:latin typeface="Arial"/>
              </a:defRPr>
            </a:pPr>
            <a:r>
              <a:t>💡 Argument clé : « Le meilleur moment pour planter un arbre était il y a 1 an. Le deuxième meilleur, c'est AUJOURD'HUI. Vos concurrents déjà inscrits récoltent. Chaque mois d'attente = 1 mois de retard. 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