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Playbook Commercial CVC</a:t>
            </a:r>
          </a:p>
          <a:p>
            <a:pPr>
              <a:spcAft>
                <a:spcPts val="2000"/>
              </a:spcAft>
              <a:defRPr sz="1800" b="1">
                <a:solidFill>
                  <a:srgbClr val="D59B2B"/>
                </a:solidFill>
                <a:latin typeface="Arial"/>
              </a:defRPr>
            </a:pPr>
            <a:r>
              <a:t>Scripts • Argumentaires • Objections • Closing</a:t>
            </a:r>
          </a:p>
          <a:p>
            <a:pPr>
              <a:spcAft>
                <a:spcPts val="2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Le guide opérationnel complet pour convertir les artisans CVC</a:t>
            </a:r>
            <a:br/>
            <a:r>
              <a:t>en partenaires Gainable.fr — de la prospection au paiement Stripe.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377440" cy="71323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754880"/>
            <a:ext cx="2011680" cy="32004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dirty="0"/>
              <a:t>PROSPECTION TÉLÉPHONIQUE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8239" y="4754880"/>
            <a:ext cx="1643177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dirty="0"/>
              <a:t>SOCIAL SELLING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8903" y="4764024"/>
            <a:ext cx="1457097" cy="320040"/>
          </a:xfrm>
          <a:prstGeom prst="round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dirty="0"/>
              <a:t>CLOSING STRIPE</a:t>
            </a:r>
          </a:p>
        </p:txBody>
      </p:sp>
      <p:pic>
        <p:nvPicPr>
          <p:cNvPr id="7" name="Picture 6" descr="hero-hv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Sommaire du Playbook Commercial CVC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57200" cy="4114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Comprendre le Prospect Artisan CVC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Les 4 douleurs réelles qui ouvrent la vente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45720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Pré-Qualification &amp; Diagnostic Préalable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Checklist avant tout appel à froid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457200" cy="411480"/>
          </a:xfrm>
          <a:prstGeom prst="round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Profiling Psychologique des Artisans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Adapter sa posture aux 3 profils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45720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Scripts de Prospection Téléphonique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Accroche, contournement secrétariat, pitch complet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457200" cy="4114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Social Selling : Instagram &amp; LinkedIn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Scripts DM Instagram + approches LinkedIn 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45720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Cadence de Prospection sur 5 Jours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La séquence mixte hebdomadaire avec 50 prospects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14600"/>
            <a:ext cx="457200" cy="411480"/>
          </a:xfrm>
          <a:prstGeom prst="round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Argumentaires Clés de Vente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Écoute active, reformulation, anti-plateformes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74720"/>
            <a:ext cx="45720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La Démo d'Impact 5 minutes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Effet WoW IA + Google en direct + Stripe closing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434840"/>
            <a:ext cx="457200" cy="4114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Traitement des Objections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Les 8 objections critiques avec réponses mot pour mot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394960"/>
            <a:ext cx="45720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Plan d'Attaque Hebdomadaire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Routine du succès en 5 étapes actionnables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6355080"/>
            <a:ext cx="45720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6355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Comparatif Plateformes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Gainable.fr vs Bilik, BNI, Travaux.com, Selocal, PagesJaunes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7315200"/>
            <a:ext cx="457200" cy="4114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7315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L'Écosystème de Visibilité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SEO + Site + Réseaux Sociaux + Google Maps + IA = Maillage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8275320"/>
            <a:ext cx="45720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8275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Les 3 Phases du Maillage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Ancrage → Maillage → Dominance locale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9235440"/>
            <a:ext cx="457200" cy="411480"/>
          </a:xfrm>
          <a:prstGeom prst="round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9235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Mindset &amp; État d'Esprit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La conviction, la résilience, le rituel du guerrier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0195560"/>
            <a:ext cx="45720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10195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D3D"/>
                </a:solidFill>
                <a:latin typeface="Arial"/>
              </a:defRPr>
            </a:pPr>
            <a:r>
              <a:t>C'est un Marathon, Pas un Sprint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Vision 12 mois — Ligne du temps SEO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01 · PSYCHOLOGIE PROSPECT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Comprendre son Prospect : Les 4 Douleurs de l'Artisan CVC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521208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64207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💸  Revente multiple des leads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Les plateformes (Travaux.com, Effy…) revendent le même prospect à 3-5 concurrents. C'est une guerre des prix qui détruit les marges. L'artisan bat le terrain et finit par brader.</a:t>
            </a:r>
          </a:p>
          <a:p>
            <a:pPr>
              <a:defRPr sz="900" b="1">
                <a:solidFill>
                  <a:srgbClr val="1F2D3D"/>
                </a:solidFill>
                <a:latin typeface="Arial"/>
              </a:defRPr>
            </a:pPr>
            <a:r>
              <a:t>Angle d'attaque : « Chez nous, le client vous appelle vous et vous seul. Zéro concurrent sur votre zone.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212080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64207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97316"/>
                </a:solidFill>
                <a:latin typeface="Arial"/>
              </a:defRPr>
            </a:pPr>
            <a:r>
              <a:t>⏰  Manque de temps digital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Un artisan passe ses journées sur le chantier. Il n'a ni le temps ni les compétences pour gérer du SEO, des Google Ads ou du contenu web. Il a besoin d'un partenaire clé en main.</a:t>
            </a:r>
          </a:p>
          <a:p>
            <a:pPr>
              <a:defRPr sz="900" b="1">
                <a:solidFill>
                  <a:srgbClr val="1F2D3D"/>
                </a:solidFill>
                <a:latin typeface="Arial"/>
              </a:defRPr>
            </a:pPr>
            <a:r>
              <a:t>Angle d'attaque : « Notre IA rédige vos articles SEO en 2 minutes. Vous n'avez rien à écrire.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4069080"/>
            <a:ext cx="521208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178808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3B82F6"/>
                </a:solidFill>
                <a:latin typeface="Arial"/>
              </a:defRPr>
            </a:pPr>
            <a:r>
              <a:t>💰  Coûts publicitaires exorbitants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Sans expertise, Google Ads coûte entre 40 € et 80 € HT par lead climatisation, qu'il soit signé ou non. Un abonnement fixe est bien plus prévisible et rentable.</a:t>
            </a:r>
          </a:p>
          <a:p>
            <a:pPr>
              <a:defRPr sz="900" b="1">
                <a:solidFill>
                  <a:srgbClr val="1F2D3D"/>
                </a:solidFill>
                <a:latin typeface="Arial"/>
              </a:defRPr>
            </a:pPr>
            <a:r>
              <a:t>Angle d'attaque : « Notre abonnement à 850 €/an, c'est 2,33 €/jour. 1 seul chantier gainable (8-15k€) le rentabilise 10 ans.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690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069080"/>
            <a:ext cx="52120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178808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🏝️  Isolement commercial (TPE vs. Grands groupes)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Face à Maclem, IZI EDF ou Engie, une TPE seule est invisible sur Google. Elle a besoin de l'autorité d'une plateforme nationale pour s'imposer localement.</a:t>
            </a:r>
          </a:p>
          <a:p>
            <a:pPr>
              <a:defRPr sz="900" b="1">
                <a:solidFill>
                  <a:srgbClr val="1F2D3D"/>
                </a:solidFill>
                <a:latin typeface="Arial"/>
              </a:defRPr>
            </a:pPr>
            <a:r>
              <a:t>Angle d'attaque : « Gainable.fr, c'est +58 000 pages référencées. Vous profitez de notre autorité pour dominer votre commune.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02 · DIAGNOSTIC PRÉALABLE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Pré-Qualification : La Checklist Avant Tout Appel à Froid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3200400" cy="292608"/>
          </a:xfrm>
          <a:prstGeom prst="roundRect">
            <a:avLst/>
          </a:prstGeom>
          <a:solidFill>
            <a:srgbClr val="1F2D3D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⚡ RÈGLE D'OR : Ne jamais appeler à l'aveugle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F2D3D"/>
                </a:solidFill>
                <a:latin typeface="Arial"/>
              </a:defRPr>
            </a:pPr>
            <a:r>
              <a:t>✅  Présence web basique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Cherchez le nom de l'entreprise sur Google. Site responsive ? Avis GMB récents ? Un site daté = point d'appui clé pour votre pitch.</a:t>
            </a:r>
          </a:p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→ Commande rapide : tapez le nom de l'entreprise + ville. Si pas de résultat dans les 3 premiers → cible parfaite.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310128"/>
            <a:ext cx="53949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3447288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F2D3D"/>
                </a:solidFill>
                <a:latin typeface="Arial"/>
              </a:defRPr>
            </a:pPr>
            <a:r>
              <a:t>✅  Audit SEO de la localité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Recherchez 'climatisation gainable + [ville de l'artisan]'. Gainable.fr apparaît ? Montrez-lui qu'en adhérant, il occupe CETTE place.</a:t>
            </a:r>
          </a:p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→ Si son site n'apparaît pas page 1 sur sa propre ville → argument choc : il est invisible pour ses clients locaux.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837176"/>
            <a:ext cx="53949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4974336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F2D3D"/>
                </a:solidFill>
                <a:latin typeface="Arial"/>
              </a:defRPr>
            </a:pPr>
            <a:r>
              <a:t>✅  Diagnostic Google Ads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Y a-t-il un badge 'Sponsorisé' sur ses mots-clés ? Oui → il est conscient du digital mais paye trop cher par lead.</a:t>
            </a:r>
          </a:p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→ Google Ads climatisation gainable coûte entre 3 € et 12 € par clic. Notre abonnement fixe est bien plus rentable.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F2D3D"/>
                </a:solidFill>
                <a:latin typeface="Arial"/>
              </a:defRPr>
            </a:pPr>
            <a:r>
              <a:t>✅  Vérification Google Maps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Sa note GMB ? Moins de 3,5 étoiles ou moins de 10 avis → opportunité de valoriser son sérieux via Gainable.</a:t>
            </a:r>
          </a:p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→ Un artisan RGE avec 4,8★ et 50 avis mais invisible Google est une cible prioritaire : le produit est là, il manque la visibilité.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310128"/>
            <a:ext cx="5394959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447288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F2D3D"/>
                </a:solidFill>
                <a:latin typeface="Arial"/>
              </a:defRPr>
            </a:pPr>
            <a:r>
              <a:t>✅  Audit rapide site:domaine.com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Tapez 'site:son-site.com' dans Google. Moins de 10 pages indexées → son site est quasi-invisible pour les moteurs.</a:t>
            </a:r>
          </a:p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→ Gainable.fr = +58 000 pages indexées. L'effet d'autorité est immédiat dès l'adhésion.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837176"/>
            <a:ext cx="5394959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4974336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F2D3D"/>
                </a:solidFill>
                <a:latin typeface="Arial"/>
              </a:defRPr>
            </a:pPr>
            <a:r>
              <a:t>✅  Détection du profil (APE + Dirigeant)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Code APE 4322A (plomberie-chauffage), 4322B (installation CVC), 4339Z (travaux isolation). Dirigeant = bonne cible.</a:t>
            </a:r>
          </a:p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→ LinkedIn ou Societe.com pour valider : solo artisan, PME 5-20 salariés ou bureau d'études. Adapter le pitch.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03 · PSYCHOLOGIE DE VENTE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Profiling Psychologique : Les 3 Profils Types de l'Artisan CVC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6576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657600" cy="10058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🔨  L'Artisan sur Chantier</a:t>
            </a:r>
          </a:p>
          <a:p>
            <a:pPr>
              <a:defRPr sz="1000">
                <a:solidFill>
                  <a:srgbClr val="FFFFC8"/>
                </a:solidFill>
                <a:latin typeface="Arial"/>
              </a:defRPr>
            </a:pPr>
            <a:r>
              <a:t>Le Technicien Pressé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39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97316"/>
                </a:solidFill>
                <a:latin typeface="Arial"/>
              </a:defRPr>
            </a:pPr>
            <a:r>
              <a:t>Caractéristiques :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Il a du bruit, est fatigué, gère tout seul.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Délai d'attention : max 45 secondes.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Il raccroche si c'est trop long.</a:t>
            </a:r>
          </a:p>
          <a:p>
            <a:br/>
            <a:r>
              <a:t>Posture : Ultra-direct + jargon technique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Scripts clés :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Je fais court, je sais que vous êtes sur un chantier. »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Vous posez plutôt du Daikin ou du Mitsubishi pour le gainable ? »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On a une demande exclusive sur [Ville], dispo 2 min ce soir ?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554480"/>
            <a:ext cx="36576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9" y="1554480"/>
            <a:ext cx="3657600" cy="10058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😤  L'Artisan Réticent</a:t>
            </a:r>
          </a:p>
          <a:p>
            <a:pPr>
              <a:defRPr sz="1000">
                <a:solidFill>
                  <a:srgbClr val="FFFFC8"/>
                </a:solidFill>
                <a:latin typeface="Arial"/>
              </a:defRPr>
            </a:pPr>
            <a:r>
              <a:t>Le Déçu du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06039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EF4444"/>
                </a:solidFill>
                <a:latin typeface="Arial"/>
              </a:defRPr>
            </a:pPr>
            <a:r>
              <a:t>Caractéristiques :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A déjà payé des sites inutiles.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S'est fait piéger par des engagements 36-48 mois.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Méfiant par défaut envers tout commercial.</a:t>
            </a:r>
          </a:p>
          <a:p>
            <a:br/>
            <a:r>
              <a:t>Posture : Empathie radicale + transparence totale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Scripts clés :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Vous avez 100% raison de vous méfier du web. »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C'est pour ça qu'on fait un tarif fixe annuel, sans engagement abusif de 3 ans. »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Gainable.fr, c'est pas une plateforme de leads. C'est une vitrine exclusive.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54480"/>
            <a:ext cx="36576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554480"/>
            <a:ext cx="3657600" cy="10058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👔  La PME CVC Structurée</a:t>
            </a:r>
          </a:p>
          <a:p>
            <a:pPr>
              <a:defRPr sz="1000">
                <a:solidFill>
                  <a:srgbClr val="FFFFC8"/>
                </a:solidFill>
                <a:latin typeface="Arial"/>
              </a:defRPr>
            </a:pPr>
            <a:r>
              <a:t>Le Dirigeant au Bureau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39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3B82F6"/>
                </a:solidFill>
                <a:latin typeface="Arial"/>
              </a:defRPr>
            </a:pPr>
            <a:r>
              <a:t>Caractéristiques :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Ne pose plus lui-même, gère des équipes.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Sensible au ROI, au SEO et à l'autorité.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• Cherche à structurer son acquisition.</a:t>
            </a:r>
          </a:p>
          <a:p>
            <a:br/>
            <a:r>
              <a:t>Posture : Professionnelle + ROI sémantique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Scripts clés :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Nous renforçons l'autorité sémantique locale de votre PME. »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Vos concurrents de [Ville] sont déjà sur la plateforme. »</a:t>
            </a:r>
          </a:p>
          <a:p>
            <a:pPr>
              <a:spcAft>
                <a:spcPts val="300"/>
              </a:spcAft>
              <a:defRPr sz="850">
                <a:solidFill>
                  <a:srgbClr val="1F2D3D"/>
                </a:solidFill>
                <a:latin typeface="Arial"/>
              </a:defRPr>
            </a:pPr>
            <a:r>
              <a:t>💬 « Je vous prépare une analyse de votre positionnement vs. vos 3 concurrents ?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04 · SCRIPTS PHONING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Scripts de Prospection Téléphonique — Mot pour Mot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🚧 Contourner le Barrage Secrétariat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❌ À ne JAMAIS dire :  </a:t>
            </a:r>
            <a:r>
              <a:rPr b="0">
                <a:solidFill>
                  <a:srgbClr val="64748B"/>
                </a:solidFill>
              </a:rPr>
              <a:t>« Je vous appelle pour un partenariat » ou « C'est au sujet du site internet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✅ Formule qui passe :  </a:t>
            </a:r>
            <a:r>
              <a:rPr b="0">
                <a:solidFill>
                  <a:srgbClr val="64748B"/>
                </a:solidFill>
              </a:rPr>
              <a:t>« C'est au sujet d'un gainable » → La secrétaire pense à un client chaud qui veut un devis.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✅ Variante :  </a:t>
            </a:r>
            <a:r>
              <a:rPr b="0">
                <a:solidFill>
                  <a:srgbClr val="64748B"/>
                </a:solidFill>
              </a:rPr>
              <a:t>« C'est par rapport à un dossier d'installation gainable sur [Ville].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✅ Si on vous demande votre société :  </a:t>
            </a:r>
            <a:r>
              <a:rPr b="0">
                <a:solidFill>
                  <a:srgbClr val="64748B"/>
                </a:solidFill>
              </a:rPr>
              <a:t>« Je suis de Gainable.fr, c'est un réseau d'installateurs partenaires. »</a:t>
            </a:r>
          </a:p>
          <a:p>
            <a:br/>
            <a:r>
              <a:t>📞 Script d'Accroche (Gérant décroche)</a:t>
            </a:r>
          </a:p>
          <a:p>
            <a:pPr>
              <a:spcAft>
                <a:spcPts val="300"/>
              </a:spcAft>
              <a:defRPr sz="1000" b="0">
                <a:solidFill>
                  <a:srgbClr val="1F2D3D"/>
                </a:solidFill>
                <a:latin typeface="Arial"/>
              </a:defRPr>
            </a:pPr>
            <a:r>
              <a:t>« Bonjour [Prénom], c'est [Votre Prénom] de Gainable.fr. »</a:t>
            </a:r>
          </a:p>
          <a:p>
            <a:pPr>
              <a:spcAft>
                <a:spcPts val="300"/>
              </a:spcAft>
              <a:defRPr sz="1000" b="0">
                <a:solidFill>
                  <a:srgbClr val="1F2D3D"/>
                </a:solidFill>
                <a:latin typeface="Arial"/>
              </a:defRPr>
            </a:pPr>
            <a:r>
              <a:t>« Je serai rapide. On gère un réseau d'installateurs CVC partenaires exclusifs. »</a:t>
            </a:r>
          </a:p>
          <a:p>
            <a:pPr>
              <a:spcAft>
                <a:spcPts val="300"/>
              </a:spcAft>
              <a:defRPr sz="1000" b="0">
                <a:solidFill>
                  <a:srgbClr val="1F2D3D"/>
                </a:solidFill>
                <a:latin typeface="Arial"/>
              </a:defRPr>
            </a:pPr>
            <a:r>
              <a:t>« J'ai regardé votre présence sur Google ce matin — vous n'apparaissez pas »</a:t>
            </a:r>
          </a:p>
          <a:p>
            <a:pPr>
              <a:spcAft>
                <a:spcPts val="3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  « sur 'gainable [Ville]' alors que des chantiers à 10-15k€ se signent sur ces recherches. »</a:t>
            </a:r>
          </a:p>
          <a:p>
            <a:pPr>
              <a:spcAft>
                <a:spcPts val="300"/>
              </a:spcAft>
              <a:defRPr sz="1000" b="0">
                <a:solidFill>
                  <a:srgbClr val="1F2D3D"/>
                </a:solidFill>
                <a:latin typeface="Arial"/>
              </a:defRPr>
            </a:pPr>
            <a:r>
              <a:t>« On a une place disponible sur votre secteur. Ça prend 5 min pour vous montrer. »</a:t>
            </a:r>
          </a:p>
          <a:p>
            <a:pPr>
              <a:spcAft>
                <a:spcPts val="300"/>
              </a:spcAft>
              <a:defRPr sz="1000" b="0">
                <a:solidFill>
                  <a:srgbClr val="1F2D3D"/>
                </a:solidFill>
                <a:latin typeface="Arial"/>
              </a:defRPr>
            </a:pPr>
            <a:r>
              <a:t>« Vous êtes dispo quand cette semaine ? 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54864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📋 Script Long — Qualification Complète (3 min)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INTRO :  </a:t>
            </a:r>
            <a:r>
              <a:rPr b="0">
                <a:solidFill>
                  <a:srgbClr val="64748B"/>
                </a:solidFill>
              </a:rPr>
              <a:t>« Vous installez principalement du gainable ou vous faites aussi du split mural ?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ÉCOUTE :  </a:t>
            </a:r>
            <a:r>
              <a:rPr b="0">
                <a:solidFill>
                  <a:srgbClr val="64748B"/>
                </a:solidFill>
              </a:rPr>
              <a:t>Laissez-le parler. Notez les marques (Daikin, Mitsubishi, Fujitsu), les zones, les volumes.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DOULEUR :  </a:t>
            </a:r>
            <a:r>
              <a:rPr b="0">
                <a:solidFill>
                  <a:srgbClr val="64748B"/>
                </a:solidFill>
              </a:rPr>
              <a:t>« Comment vous gérez l'acquisition de nouveaux chantiers actuellement ?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PONT :  </a:t>
            </a:r>
            <a:r>
              <a:rPr b="0">
                <a:solidFill>
                  <a:srgbClr val="64748B"/>
                </a:solidFill>
              </a:rPr>
              <a:t>« Vous connaissez le stress de rappeler un client en 3 min avant 4 concurrents ?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PIVOT :  </a:t>
            </a:r>
            <a:r>
              <a:rPr b="0">
                <a:solidFill>
                  <a:srgbClr val="64748B"/>
                </a:solidFill>
              </a:rPr>
              <a:t>« Chez nous, c'est l'inverse. Le client voit VOTRE fiche, VOTRE numéro, et il vous appelle directement.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STATS :  </a:t>
            </a:r>
            <a:r>
              <a:rPr b="0">
                <a:solidFill>
                  <a:srgbClr val="64748B"/>
                </a:solidFill>
              </a:rPr>
              <a:t>« Sur Gainable.fr, on a +58 000 pages indexées. Votre ville, votre nom, en tête de Google.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CLOSE :  </a:t>
            </a:r>
            <a:r>
              <a:rPr b="0">
                <a:solidFill>
                  <a:srgbClr val="64748B"/>
                </a:solidFill>
              </a:rPr>
              <a:t>« Je vous fais une démo en direct de 5 min pour que vous voyez comment ça marche ? »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  URGENCE :  </a:t>
            </a:r>
            <a:r>
              <a:rPr b="0">
                <a:solidFill>
                  <a:srgbClr val="64748B"/>
                </a:solidFill>
              </a:rPr>
              <a:t>« J'ai une dernière place sur [Ville] avant de la proposer à [Concurrent Connu si possible]. »</a:t>
            </a:r>
          </a:p>
          <a:p>
            <a:br/>
            <a:r>
              <a:t>💡 Si le gérant rappelle suite à un DM envoyé la veille :</a:t>
            </a:r>
          </a:p>
          <a:p>
            <a:pPr>
              <a:defRPr sz="1000" b="1">
                <a:solidFill>
                  <a:srgbClr val="1F2D3D"/>
                </a:solidFill>
                <a:latin typeface="Arial"/>
              </a:defRPr>
            </a:pPr>
            <a:r>
              <a:t>« Ah oui ! Je vous avais envoyé un message hier sur [Instagram/LinkedIn]. Merci de me rappeler. Je voulais vous parler de la zone exclusive sur [Ville] avant qu'on la libère à vos confrères.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6126480"/>
            <a:ext cx="54864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05 · RÉSEAUX SOCIAUX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Social Selling : Scripts Instagram &amp; LinkedIn — Mot pour Mot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E1306C"/>
                </a:solidFill>
                <a:latin typeface="Arial"/>
              </a:defRPr>
            </a:pPr>
            <a:r>
              <a:t>📸 Instagram — Aucun Barrage Secrétaire</a:t>
            </a:r>
          </a:p>
          <a:p>
            <a:pPr>
              <a:spcAft>
                <a:spcPts val="300"/>
              </a:spcAft>
              <a:defRPr sz="1050" b="1">
                <a:solidFill>
                  <a:srgbClr val="1F2D3D"/>
                </a:solidFill>
                <a:latin typeface="Arial"/>
              </a:defRPr>
            </a:pPr>
            <a:r>
              <a:t>Étape 1 — Story-Réaction Technique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Réagissez à sa story (pose gainable, chantier, clim en cours). Question de métier :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💬 « Propre la pose ! C'est du bi-split Daikin ? Pas trop galère le passage des liaisons ? »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  <a:latin typeface="Arial"/>
              </a:defRPr>
            </a:pPr>
            <a:r>
              <a:t>→ L'artisan adore parler technique. Ça brise la glace sans approche commerciale.</a:t>
            </a:r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300"/>
              </a:spcAft>
              <a:defRPr sz="1050" b="1">
                <a:solidFill>
                  <a:srgbClr val="1F2D3D"/>
                </a:solidFill>
                <a:latin typeface="Arial"/>
              </a:defRPr>
            </a:pPr>
            <a:r>
              <a:t>Étape 2 — DM Audit Visuel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Après interaction, envoyez en DM :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💬 « Ton boulot est super propre. C'est dommage car quand je cherche 'clim gainable [Ville]', tu n'apparais pas. Les gros chantiers à 12k€ se signent sur Google, pas sur Insta. On a une demande exclusive sur ton secteur. Dispo pour s'appeler 2 min ? »</a:t>
            </a:r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300"/>
              </a:spcAft>
              <a:defRPr sz="1050" b="1">
                <a:solidFill>
                  <a:srgbClr val="1F2D3D"/>
                </a:solidFill>
                <a:latin typeface="Arial"/>
              </a:defRPr>
            </a:pPr>
            <a:r>
              <a:t>Étape 3 — Relance si pas de réponse (J+2)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Message court de relance :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💬 « Salut [Prénom], je voulais valider ton intérêt pour la zone [Ville] avant de la libérer pour tes confrères. »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  <a:latin typeface="Arial"/>
              </a:defRPr>
            </a:pPr>
            <a:r>
              <a:t>→ L'urgence est réelle : l'exclusivité par zone est un vrai argument.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481328"/>
            <a:ext cx="5943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077B5"/>
                </a:solidFill>
                <a:latin typeface="Arial"/>
              </a:defRPr>
            </a:pPr>
            <a:r>
              <a:t>💼 LinkedIn — Cibler les PME CVC (5-20 salariés)</a:t>
            </a:r>
          </a:p>
          <a:p>
            <a:pPr>
              <a:spcAft>
                <a:spcPts val="300"/>
              </a:spcAft>
              <a:defRPr sz="1050" b="1">
                <a:solidFill>
                  <a:srgbClr val="1F2D3D"/>
                </a:solidFill>
                <a:latin typeface="Arial"/>
              </a:defRPr>
            </a:pPr>
            <a:r>
              <a:t>Approche 1 — Trigger Recrutement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Ciblez les dirigeants qui recrutent sur LinkedIn (ex: 'frigoriste CVC [Ville]') :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💬 « Bonjour [Nom], j'ai vu que vous recrutiez un frigoriste sur [Ville], signe d'une belle croissance ! Dans le cadre de notre réseau gainable.fr, nous cherchons notre installateur partenaire exclusif sur votre secteur. Notre modèle : un unique installateur par zone géographique. Vos avis et certifications témoignent de votre sérieux. Êtes-vous en mesure de prendre de nouveaux chantiers ? »</a:t>
            </a:r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300"/>
              </a:spcAft>
              <a:defRPr sz="1050" b="1">
                <a:solidFill>
                  <a:srgbClr val="1F2D3D"/>
                </a:solidFill>
                <a:latin typeface="Arial"/>
              </a:defRPr>
            </a:pPr>
            <a:r>
              <a:t>Approche 2 — Exclusivité Sectorielle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Connexion directe sur profil dirigeant CVC :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💬 « Bonjour [Nom], nous finalisons le référencement exclusif des experts CVC sur [Ville]. Notre modèle : un unique installateur par secteur géographique pour lui envoyer toutes nos demandes sans revente multiple. Êtes-vous en mesure de prendre de nouveaux chantiers ? »</a:t>
            </a:r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300"/>
              </a:spcAft>
              <a:defRPr sz="1050" b="1">
                <a:solidFill>
                  <a:srgbClr val="1F2D3D"/>
                </a:solidFill>
                <a:latin typeface="Arial"/>
              </a:defRPr>
            </a:pPr>
            <a:r>
              <a:t>Astuce — Invitation sans note de connexion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Envoyez des demandes de connexion SANS note de message.</a:t>
            </a:r>
          </a:p>
          <a:p>
            <a:pPr>
              <a:spcAft>
                <a:spcPts val="3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💬 Taux d'acceptation supérieur de +30% car ça ne ressemble pas à une sollicitation commerciale directe.</a:t>
            </a:r>
          </a:p>
          <a:p>
            <a:pPr>
              <a:spcAft>
                <a:spcPts val="400"/>
              </a:spcAft>
              <a:defRPr sz="900">
                <a:solidFill>
                  <a:srgbClr val="0077B5"/>
                </a:solidFill>
                <a:latin typeface="Arial"/>
              </a:defRPr>
            </a:pPr>
            <a:r>
              <a:t>→ Attendez l'acceptation, puis envoyez le DM personnalisé dans les 24h.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06 · CADENCE &amp; RYTHME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La Cadence de Prospection : Séquence Mixte sur 5 Jours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5029200" cy="292608"/>
          </a:xfrm>
          <a:prstGeom prst="roundRect">
            <a:avLst/>
          </a:prstGeom>
          <a:solidFill>
            <a:srgbClr val="1F2D3D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🎯 Objectif : Traiter 50 prospects CVC RGE qualifiés par semaine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255459" cy="77724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21640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J1 · Mardi</a:t>
            </a:r>
          </a:p>
          <a:p>
            <a:pPr algn="ctr">
              <a:defRPr sz="850" b="1">
                <a:solidFill>
                  <a:srgbClr val="FFFFC8"/>
                </a:solidFill>
                <a:latin typeface="Arial"/>
              </a:defRPr>
            </a:pPr>
            <a:r>
              <a:t>Premier Contact Multi-canal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88920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62072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Likez / commentez une photo technique de pose récente.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13048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Envoyez une demande de connexion (sans note) sur Instagram &amp; LinkedIn.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37176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910328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/>
              <a:t>DM story-</a:t>
            </a:r>
            <a:r>
              <a:rPr dirty="0" err="1"/>
              <a:t>réaction</a:t>
            </a:r>
            <a:r>
              <a:rPr dirty="0"/>
              <a:t> : « Propre la pose ! </a:t>
            </a:r>
            <a:r>
              <a:rPr dirty="0" err="1"/>
              <a:t>C'est</a:t>
            </a:r>
            <a:r>
              <a:rPr dirty="0"/>
              <a:t> du bi-split Daikin ?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61304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5934456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Si email disponible → Séquence email J1 (présentation + audit offert).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2387" y="1920240"/>
            <a:ext cx="2255459" cy="7772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8107" y="1965960"/>
            <a:ext cx="21640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J2 · Mercredi</a:t>
            </a:r>
          </a:p>
          <a:p>
            <a:pPr algn="ctr">
              <a:defRPr sz="850" b="1">
                <a:solidFill>
                  <a:srgbClr val="FFFFC8"/>
                </a:solidFill>
                <a:latin typeface="Arial"/>
              </a:defRPr>
            </a:pPr>
            <a:r>
              <a:t>Premier Appel Téléphonique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2387" y="2788920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13827" y="2862072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Appel direct entre 8h30-9h30 ou 12h00-13h30.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2387" y="3813048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13827" y="3886200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Barrage secrétariat : « C'est au sujet d'un gainable 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22387" y="4837176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13827" y="4910328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 err="1"/>
              <a:t>Rebond</a:t>
            </a:r>
            <a:r>
              <a:rPr dirty="0"/>
              <a:t> DM </a:t>
            </a:r>
            <a:r>
              <a:rPr dirty="0" err="1"/>
              <a:t>si</a:t>
            </a:r>
            <a:r>
              <a:rPr dirty="0"/>
              <a:t> déjà </a:t>
            </a:r>
            <a:r>
              <a:rPr dirty="0" err="1"/>
              <a:t>contacté</a:t>
            </a:r>
            <a:r>
              <a:rPr dirty="0"/>
              <a:t> : « Je vous </a:t>
            </a:r>
            <a:r>
              <a:rPr dirty="0" err="1"/>
              <a:t>avais</a:t>
            </a:r>
            <a:r>
              <a:rPr dirty="0"/>
              <a:t> </a:t>
            </a:r>
            <a:r>
              <a:rPr dirty="0" err="1"/>
              <a:t>envoyé</a:t>
            </a:r>
            <a:r>
              <a:rPr dirty="0"/>
              <a:t> un message </a:t>
            </a:r>
            <a:r>
              <a:rPr dirty="0" err="1"/>
              <a:t>hier</a:t>
            </a:r>
            <a:r>
              <a:rPr dirty="0"/>
              <a:t>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22387" y="5861304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13827" y="5934456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/>
              <a:t>Si </a:t>
            </a:r>
            <a:r>
              <a:rPr dirty="0" err="1"/>
              <a:t>messagerie</a:t>
            </a:r>
            <a:r>
              <a:rPr dirty="0"/>
              <a:t> </a:t>
            </a:r>
            <a:r>
              <a:rPr dirty="0" err="1"/>
              <a:t>vocale</a:t>
            </a:r>
            <a:r>
              <a:rPr dirty="0"/>
              <a:t> : Laissez </a:t>
            </a:r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prénom</a:t>
            </a:r>
            <a:r>
              <a:rPr dirty="0"/>
              <a:t> + gainable.fr + rappel.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7574" y="1920240"/>
            <a:ext cx="2255459" cy="7772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33294" y="1965960"/>
            <a:ext cx="21640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J3 · Jeudi</a:t>
            </a:r>
          </a:p>
          <a:p>
            <a:pPr algn="ctr">
              <a:defRPr sz="850" b="1">
                <a:solidFill>
                  <a:srgbClr val="FFFFC8"/>
                </a:solidFill>
                <a:latin typeface="Arial"/>
              </a:defRPr>
            </a:pPr>
            <a:r>
              <a:t>Relance Écrite Courte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87574" y="2788920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79014" y="2862072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Message court sur LinkedIn / Instagram / WhatsApp 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7574" y="3813048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9014" y="3886200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/>
              <a:t>« Bonjour [</a:t>
            </a:r>
            <a:r>
              <a:rPr dirty="0" err="1"/>
              <a:t>Prénom</a:t>
            </a:r>
            <a:r>
              <a:rPr dirty="0"/>
              <a:t>], je vous ai </a:t>
            </a:r>
            <a:r>
              <a:rPr dirty="0" err="1"/>
              <a:t>laissé</a:t>
            </a:r>
            <a:r>
              <a:rPr dirty="0"/>
              <a:t> un message </a:t>
            </a:r>
            <a:r>
              <a:rPr dirty="0" err="1"/>
              <a:t>hier</a:t>
            </a:r>
            <a:r>
              <a:rPr dirty="0"/>
              <a:t>.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87574" y="4837176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79014" y="4910328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/>
              <a:t>« Je </a:t>
            </a:r>
            <a:r>
              <a:rPr dirty="0" err="1"/>
              <a:t>voulais</a:t>
            </a:r>
            <a:r>
              <a:rPr dirty="0"/>
              <a:t> </a:t>
            </a:r>
            <a:r>
              <a:rPr dirty="0" err="1"/>
              <a:t>valider</a:t>
            </a:r>
            <a:r>
              <a:rPr dirty="0"/>
              <a:t> </a:t>
            </a:r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intérêt</a:t>
            </a:r>
            <a:r>
              <a:rPr dirty="0"/>
              <a:t> pour </a:t>
            </a:r>
            <a:r>
              <a:rPr dirty="0" err="1"/>
              <a:t>l'exclusivité</a:t>
            </a:r>
            <a:r>
              <a:rPr dirty="0"/>
              <a:t> de [Ville] 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7574" y="5861304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79014" y="5934456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/>
              <a:t>« avant de </a:t>
            </a:r>
            <a:r>
              <a:rPr dirty="0" err="1"/>
              <a:t>libérer</a:t>
            </a:r>
            <a:r>
              <a:rPr dirty="0"/>
              <a:t> la zone à </a:t>
            </a:r>
            <a:r>
              <a:rPr dirty="0" err="1"/>
              <a:t>vos</a:t>
            </a:r>
            <a:r>
              <a:rPr dirty="0"/>
              <a:t> confrères.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52761" y="1920240"/>
            <a:ext cx="2255459" cy="777240"/>
          </a:xfrm>
          <a:prstGeom prst="round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98481" y="1965960"/>
            <a:ext cx="21640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J4 · Vendredi</a:t>
            </a:r>
          </a:p>
          <a:p>
            <a:pPr algn="ctr">
              <a:defRPr sz="850" b="1">
                <a:solidFill>
                  <a:srgbClr val="FFFFC8"/>
                </a:solidFill>
                <a:latin typeface="Arial"/>
              </a:defRPr>
            </a:pPr>
            <a:r>
              <a:t>Second Appel / Close Direct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52761" y="2788920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44201" y="2862072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Deuxième appel — mentionnez le message du J3.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52761" y="3813048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44201" y="3886200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Proposez la démo de 5 min immédiate : « Je suis là, dispo maintenant. 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52761" y="4837176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44201" y="4910328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/>
              <a:t>Si accord → </a:t>
            </a:r>
            <a:r>
              <a:rPr dirty="0" err="1"/>
              <a:t>envoyez</a:t>
            </a:r>
            <a:r>
              <a:rPr dirty="0"/>
              <a:t> le lien Stripe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avec </a:t>
            </a:r>
            <a:r>
              <a:rPr dirty="0" err="1"/>
              <a:t>lui</a:t>
            </a:r>
            <a:r>
              <a:rPr dirty="0"/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52761" y="5861304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44201" y="5934456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rPr dirty="0"/>
              <a:t>Si </a:t>
            </a:r>
            <a:r>
              <a:rPr dirty="0" err="1"/>
              <a:t>hésitation</a:t>
            </a:r>
            <a:r>
              <a:rPr dirty="0"/>
              <a:t> → code EXCLU10 pour -10% </a:t>
            </a:r>
            <a:r>
              <a:rPr dirty="0" err="1"/>
              <a:t>si</a:t>
            </a:r>
            <a:r>
              <a:rPr dirty="0"/>
              <a:t> signature </a:t>
            </a:r>
            <a:r>
              <a:rPr dirty="0" err="1"/>
              <a:t>ce</a:t>
            </a:r>
            <a:r>
              <a:rPr dirty="0"/>
              <a:t> jour.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17948" y="1920240"/>
            <a:ext cx="2255459" cy="7772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63668" y="1965960"/>
            <a:ext cx="21640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J5 · Lundi +1</a:t>
            </a:r>
          </a:p>
          <a:p>
            <a:pPr algn="ctr">
              <a:defRPr sz="850" b="1">
                <a:solidFill>
                  <a:srgbClr val="FFFFC8"/>
                </a:solidFill>
                <a:latin typeface="Arial"/>
              </a:defRPr>
            </a:pPr>
            <a:r>
              <a:t>Retrait Stratégique / Urgence Finale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17948" y="2788920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09388" y="2862072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Message de désengagement = déclencheur puissant 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17948" y="3813048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09388" y="3886200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« Bonjour [Nom], sans retour de votre part, 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17948" y="4837176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09388" y="4910328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« je libère la zone de [Ville] pour vos confrères. 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17948" y="5861304"/>
            <a:ext cx="225545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009388" y="5934456"/>
            <a:ext cx="20725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F2D3D"/>
                </a:solidFill>
                <a:latin typeface="Arial"/>
              </a:defRPr>
            </a:pPr>
            <a:r>
              <a:t>« Excellente continuation.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07 · POSTURE &amp; ARGUMENTATION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Argumentaires Clés : Écoute Active, Reformulation, Anti-Plateformes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577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6400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64207"/>
            <a:ext cx="5212079" cy="190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B82F6"/>
                </a:solidFill>
                <a:latin typeface="Arial"/>
              </a:defRPr>
            </a:pPr>
            <a:r>
              <a:t>🎧 1. L'Écoute Active (70% de la vente)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Valider les frustrations avec empathie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« Je comprends, c'est très frustrant de payer pour des leads partagés avec 4 concurrents. »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Poser des questions ouvertes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« Comment gérez-vous les périodes creuses ? » · « Combien vous coûte l'acquisition d'un client ? »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Reformulation pour déclencher le 'Oui franc'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« Si je comprends bien : vous voulez un canal direct, sans intermédiaire, sans destruction de marges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577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57784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7"/>
            <a:ext cx="5212079" cy="190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⚖️ 2. Le Comparatif ROI — Chiffres qui Claquent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Ramener le tarif à l'échelle quotidienne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850 €/an = 2,33 €/jour = moins qu'un café quotidien.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Comparer avec Google Ads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Un lead climatisation Google Ads = 40 à 80 € HT (qu'il soit signé ou non).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Le chantier ROI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1 seule pose gainable (8 000 à 15 000 €) = abonnement rentabilisé pour 10 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94760"/>
            <a:ext cx="5577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577840" cy="64008"/>
          </a:xfrm>
          <a:prstGeom prst="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5212079" cy="190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59B2B"/>
                </a:solidFill>
                <a:latin typeface="Arial"/>
              </a:defRPr>
            </a:pPr>
            <a:r>
              <a:t>🏆 3. L'Anti-Plateforme — Notre Différence Fondamentale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Nous ne sommes PAS une plateforme de leads :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Parcours client : Google → Gainable.fr → Votre fiche → Il vous appelle DIRECTEMENT.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0% de commission sur vos chantiers. Abonnement fixe et prévisible.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Argument autorité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+58 000 pages indexées. Tapez 'site:gainable.fr' → C'est votre bouclier contre les géants.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Fiches d'intervention détaillées → Moins de 'curieux', plus de clients sérieux.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94760"/>
            <a:ext cx="5577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3794760"/>
            <a:ext cx="5577840" cy="6400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904488"/>
            <a:ext cx="5212079" cy="190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EF4444"/>
                </a:solidFill>
                <a:latin typeface="Arial"/>
              </a:defRPr>
            </a:pPr>
            <a:r>
              <a:t>🎯 4. Le Closing à la Reformulation Finale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Après avoir géré les objections, recentrez sur le 'Oui'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« Donc si je comprends bien, votre seul frein c'est [l'objection nommée] ? »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« Si je règle ça maintenant, on peut avancer ? »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Envoyez le lien Stripe en direct :</a:t>
            </a:r>
          </a:p>
          <a:p>
            <a:pPr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Restez à l'oral avec lui pendant la saisie. Si hésitation après clic :</a:t>
            </a:r>
          </a:p>
          <a:p>
            <a:pPr>
              <a:spcAft>
                <a:spcPts val="200"/>
              </a:spcAft>
              <a:defRPr sz="950" b="1">
                <a:solidFill>
                  <a:srgbClr val="1F2D3D"/>
                </a:solidFill>
                <a:latin typeface="Arial"/>
              </a:defRPr>
            </a:pPr>
            <a:r>
              <a:t>« Je vous applique le code EXCLU10 pour -10% si vous validez maintenant → 765 € au lieu de 850 € HT.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08 · DÉMO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La Démo d'Impact 5 min &amp; Le Closing Stripe — Pas à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697480" cy="54864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⏱ 0:00-2:00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48840"/>
            <a:ext cx="26974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Arial"/>
              </a:defRPr>
            </a:pPr>
            <a:r>
              <a:t>Effet WoW de l'IA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70048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761488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2D3D"/>
                </a:solidFill>
                <a:latin typeface="Arial"/>
              </a:defRPr>
            </a:pPr>
            <a:r>
              <a:t>1. « Dites-moi votre dernier chantier en 3 mots.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77056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968496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2. Tapez en direct dans l'assistant IA : 'Pose gainable Daikin à [Ville]'.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084064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5175504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3. L'IA génère un article technique de 500 mots en 30 secondes sous ses yeux.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6291072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2D3D"/>
                </a:solidFill>
                <a:latin typeface="Arial"/>
              </a:defRPr>
            </a:pPr>
            <a:r>
              <a:t>4. « Voilà ce que Google verra dans les prochains jours. 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554480"/>
            <a:ext cx="2697480" cy="5486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162763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⏱ 2:00-3:00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148840"/>
            <a:ext cx="26974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219456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Preuve : 0 Revente de Contact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670048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01568" y="2761488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1. Montrez une fiche artisan Gainable.fr déjà en ligne.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877056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01568" y="3968496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2D3D"/>
                </a:solidFill>
                <a:latin typeface="Arial"/>
              </a:defRPr>
            </a:pPr>
            <a:r>
              <a:t>2. « Dès que le client vous trouve, il clique sur VOTRE numéro — personne d'autre. 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5084064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01568" y="5175504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3. Montrez un exemple de fiche pro déjà en ligne (Air G Énergie par ex.).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6291072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01568" y="6382512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2D3D"/>
                </a:solidFill>
                <a:latin typeface="Arial"/>
              </a:defRPr>
            </a:pPr>
            <a:r>
              <a:t>4. « Ces artisans reçoivent des appels directs. Le client les a CHOISIS, pas un algo qui revend. 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554480"/>
            <a:ext cx="2697480" cy="548640"/>
          </a:xfrm>
          <a:prstGeom prst="round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62763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⏱ 3:00-4:00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48840"/>
            <a:ext cx="26974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219456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59B2B"/>
                </a:solidFill>
                <a:latin typeface="Arial"/>
              </a:defRPr>
            </a:pPr>
            <a:r>
              <a:t>Position Google en Direct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670048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2761488"/>
            <a:ext cx="2478024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rPr dirty="0"/>
              <a:t>1. </a:t>
            </a:r>
            <a:r>
              <a:rPr lang="fr-FR" dirty="0"/>
              <a:t>Platform d’expert en climatisation </a:t>
            </a:r>
            <a:r>
              <a:rPr dirty="0"/>
              <a:t>[Ville </a:t>
            </a:r>
            <a:r>
              <a:rPr dirty="0" err="1"/>
              <a:t>cible</a:t>
            </a:r>
            <a:r>
              <a:rPr dirty="0"/>
              <a:t>]' sur Google.</a:t>
            </a:r>
            <a:r>
              <a:rPr lang="fr-FR" dirty="0"/>
              <a:t>  Ou Expert en climatisation gainable (ville)   ( </a:t>
            </a:r>
            <a:r>
              <a:rPr lang="fr-FR" dirty="0" err="1"/>
              <a:t>verification</a:t>
            </a:r>
            <a:r>
              <a:rPr lang="fr-FR" dirty="0"/>
              <a:t> d’indexation de son propre si il en as  site://domaine   pour voir le nombre 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6217920" y="3877056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3968496"/>
            <a:ext cx="247802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rPr dirty="0"/>
              <a:t>2. Gainable.fr </a:t>
            </a:r>
            <a:r>
              <a:rPr dirty="0" err="1"/>
              <a:t>apparaît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haut. Montrez-le-</a:t>
            </a:r>
            <a:r>
              <a:rPr dirty="0" err="1"/>
              <a:t>lui</a:t>
            </a:r>
            <a:r>
              <a:rPr dirty="0"/>
              <a:t>.</a:t>
            </a:r>
            <a:endParaRPr lang="fr-FR" dirty="0"/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rPr lang="fr-FR" dirty="0"/>
              <a:t> nombre de page indexer </a:t>
            </a:r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6217920" y="5084064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5175504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2D3D"/>
                </a:solidFill>
                <a:latin typeface="Arial"/>
              </a:defRPr>
            </a:pPr>
            <a:r>
              <a:t>3. « Vous voyez ? Votre profil sera là dans 48h. 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6291072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6382512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2D3D"/>
                </a:solidFill>
                <a:latin typeface="Arial"/>
              </a:defRPr>
            </a:pPr>
            <a:r>
              <a:t>4. « Vos concurrents qui apparaissent ici ? Ce sont eux que vos clients appellent aujourd'hui à votre place. 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1554480"/>
            <a:ext cx="2697480" cy="5486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35440" y="162763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⏱ 4:00-5:00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2148840"/>
            <a:ext cx="26974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35440" y="219456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Closing &amp; Paiement Stripe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2670048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53728" y="2761488"/>
            <a:ext cx="247802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Envoyez</a:t>
            </a:r>
            <a:r>
              <a:rPr dirty="0"/>
              <a:t> le lien de </a:t>
            </a:r>
            <a:r>
              <a:rPr dirty="0" err="1"/>
              <a:t>souscription</a:t>
            </a:r>
            <a:r>
              <a:rPr dirty="0"/>
              <a:t> Stripe EN DIRECT.</a:t>
            </a:r>
            <a:r>
              <a:rPr lang="fr-FR" dirty="0"/>
              <a:t> Ou plus orienter vert la page d’</a:t>
            </a:r>
            <a:r>
              <a:rPr lang="fr-FR" dirty="0" err="1"/>
              <a:t>adhesion</a:t>
            </a:r>
            <a:r>
              <a:rPr lang="fr-FR" dirty="0"/>
              <a:t> avec  code  promo</a:t>
            </a:r>
            <a:endParaRPr dirty="0"/>
          </a:p>
        </p:txBody>
      </p:sp>
      <p:sp>
        <p:nvSpPr>
          <p:cNvPr id="47" name="Rounded Rectangle 46"/>
          <p:cNvSpPr/>
          <p:nvPr/>
        </p:nvSpPr>
        <p:spPr>
          <a:xfrm>
            <a:off x="9144000" y="3877056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53728" y="3968496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Restez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avec </a:t>
            </a:r>
            <a:r>
              <a:rPr dirty="0" err="1"/>
              <a:t>lui</a:t>
            </a:r>
            <a:r>
              <a:rPr dirty="0"/>
              <a:t> pendant la </a:t>
            </a:r>
            <a:r>
              <a:rPr dirty="0" err="1"/>
              <a:t>saisie</a:t>
            </a:r>
            <a:r>
              <a:rPr dirty="0"/>
              <a:t>. Ne </a:t>
            </a:r>
            <a:r>
              <a:rPr dirty="0" err="1"/>
              <a:t>raccrochez</a:t>
            </a:r>
            <a:r>
              <a:rPr dirty="0"/>
              <a:t> pas.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5084064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53728" y="5175504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3. Si hésitation : « Je vous applique EXCLU10 → 765 € au lieu de 850 € HT. 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6291072"/>
            <a:ext cx="2697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53728" y="6382512"/>
            <a:ext cx="2478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2D3D"/>
                </a:solidFill>
                <a:latin typeface="Arial"/>
              </a:defRPr>
            </a:pPr>
            <a:r>
              <a:t>4. « C'est valable uniquement maintenant, cette zone part dès demain.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09 · OBJECTIONS &amp; CONTRE-ARGUMENTS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Traitement des Objections : 8 Réponses Mot pour Mot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73152" cy="117043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627632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97316"/>
                </a:solidFill>
                <a:latin typeface="Arial"/>
              </a:defRPr>
            </a:pPr>
            <a:r>
              <a:t>💬 « Je fonctionne au bouche-à-oreille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C'est génial, preuve de votre sérieux. Mais 9 clients sur 10 recommandés par un ami tapent votre nom sur Google pour se rassurer. S'ils ne voient rien de récent, ils doutent. On digitalise votre bouche-à-oreille.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73152" cy="1170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627632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B82F6"/>
                </a:solidFill>
                <a:latin typeface="Arial"/>
              </a:defRPr>
            </a:pPr>
            <a:r>
              <a:t>💬 « J'ai déjà mon propre site vitrine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C'est très bien. Tapez 'site:votresite.com' : il n'y a que 4 pages. Face aux géants nationaux, un petit site individuel est invisible. En publiant chez nous, vous profitez de l'autorité de Gainable.fr (58k pages).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16352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816352"/>
            <a:ext cx="73152" cy="11704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889504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Arial"/>
              </a:defRPr>
            </a:pPr>
            <a:r>
              <a:t>💬 « J'achète des leads chez Travaux.com/Effy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Vous connaissez le stress de rappeler en 3 min avant 4 concurrents et brader vos marges ? Sur Gainable.fr, le client voit VOTRE fiche, il vous choisit, il vous appelle directement. Zéro revente de contact. 0% commission.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16352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2816352"/>
            <a:ext cx="73152" cy="1170432"/>
          </a:xfrm>
          <a:prstGeom prst="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2889504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D59B2B"/>
                </a:solidFill>
                <a:latin typeface="Arial"/>
              </a:defRPr>
            </a:pPr>
            <a:r>
              <a:t>💬 « C'est trop cher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Combien vous rapporte une seule pose de gainable ? Entre 8k€ et 15k€. Il vous suffit de signer un seul chantier via Gainable.fr pour rentabiliser votre adhésion pour les 10 prochaines années. 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078224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078224"/>
            <a:ext cx="73152" cy="1170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51376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💬 « Je n'ai pas le temps pour les articles SEO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Vous n'avez rien à écrire. Notre IA génère un article de 800 mots en 2 minutes. Vous saisissez le nom de la ville + 3 mots sur le chantier. L'IA fait le reste, optimisé SEO, prêt à publier en 1 clic.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078224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4078224"/>
            <a:ext cx="73152" cy="1170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2" y="4151376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B82F6"/>
                </a:solidFill>
                <a:latin typeface="Arial"/>
              </a:defRPr>
            </a:pPr>
            <a:r>
              <a:t>💬 « Je suis complet pour 6 mois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Parfait ! Le SEO prend 3-6 mois. Commencer maintenant permet de blinder votre carnet pour la prochaine saison. Et avoir plus de demandes vous permet de choisir les chantiers les plus rentables. 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340096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340096"/>
            <a:ext cx="73152" cy="11704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5413248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Arial"/>
              </a:defRPr>
            </a:pPr>
            <a:r>
              <a:t>💬 « Je vais y réfléchir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Je comprends. Pendant que vous réfléchissez, vos clients tapent 'gainable [Ville]' sur Google et appellent un artisan concurrent qui s'est décidé avant vous. Qu'est-ce qui vous retient vraiment ? » (Identifier l'objection cachée)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5340096"/>
            <a:ext cx="557784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5340096"/>
            <a:ext cx="73152" cy="117043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5413248"/>
            <a:ext cx="5321807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97316"/>
                </a:solidFill>
                <a:latin typeface="Arial"/>
              </a:defRPr>
            </a:pPr>
            <a:r>
              <a:t>💬 « Je n'ai jamais entendu parler de vous »</a:t>
            </a:r>
          </a:p>
          <a:p>
            <a:pPr>
              <a:defRPr sz="900">
                <a:solidFill>
                  <a:srgbClr val="1F2D3D"/>
                </a:solidFill>
                <a:latin typeface="Arial"/>
              </a:defRPr>
            </a:pPr>
            <a:r>
              <a:t>↳ « C'est normal, on est récent et on grandit vite. Tapez 'climatisation gainable [Ville]' sur Google maintenant. On est en première page. Vos futurs clients, eux, nous voient déjà.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59B2B"/>
                </a:solidFill>
                <a:latin typeface="Arial"/>
              </a:defRPr>
            </a:pPr>
            <a:r>
              <a:t>10 · PLAN D'ATTAQUE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La Routine du Succès — 5 Étapes Actionnables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600200"/>
            <a:ext cx="2103120" cy="50292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783080"/>
            <a:ext cx="73152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Arial"/>
              </a:defRPr>
            </a:pPr>
            <a:r>
              <a:t>CIBLEZ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Identifiez 50 prospects CVC RGE par semaine sans partenaire exclusif sur leur secteur.</a:t>
            </a:r>
          </a:p>
          <a:p>
            <a:pPr>
              <a:defRPr sz="850" b="1">
                <a:solidFill>
                  <a:srgbClr val="3B82F6"/>
                </a:solidFill>
                <a:latin typeface="Arial"/>
              </a:defRPr>
            </a:pPr>
            <a:r>
              <a:t>LinkedIn Sales Nav · Societe.com · Google Maps (recherche artisans CVC + ville)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600200"/>
            <a:ext cx="2103120" cy="50292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731520" cy="5029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37744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DIAGNOSTIQUEZ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71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Pour chaque prospect, effectuez le tri-check rapide avant tout contact.</a:t>
            </a:r>
          </a:p>
          <a:p>
            <a:pPr>
              <a:defRPr sz="850" b="1">
                <a:solidFill>
                  <a:srgbClr val="10B981"/>
                </a:solidFill>
                <a:latin typeface="Arial"/>
              </a:defRPr>
            </a:pPr>
            <a:r>
              <a:t>site:son-site.com · Note Google Maps · Marques posées (Daikin, Mitsu, Fujitsu)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600200"/>
            <a:ext cx="2103120" cy="50292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69280" y="1783080"/>
            <a:ext cx="731520" cy="5029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0" y="1828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37744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Arial"/>
              </a:defRPr>
            </a:pPr>
            <a:r>
              <a:t>CONTACTEZ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971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Lancez la séquence mixte sur 5 jours (Social → Phoning → DM → Urgence).</a:t>
            </a:r>
          </a:p>
          <a:p>
            <a:pPr>
              <a:defRPr sz="850" b="1">
                <a:solidFill>
                  <a:srgbClr val="F97316"/>
                </a:solidFill>
                <a:latin typeface="Arial"/>
              </a:defRPr>
            </a:pPr>
            <a:r>
              <a:t>Instagram story-réaction · LinkedIn trigger · Phoning sujet 'gainable' · DM relance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600200"/>
            <a:ext cx="2103120" cy="50292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55279" y="1783080"/>
            <a:ext cx="731520" cy="502920"/>
          </a:xfrm>
          <a:prstGeom prst="round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1828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37744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rial"/>
              </a:defRPr>
            </a:pPr>
            <a:r>
              <a:t>DÉMONTREZ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971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Faites la démo de 5 min en live avec l'effet WoW de l'écriture IA.</a:t>
            </a:r>
          </a:p>
          <a:p>
            <a:pPr>
              <a:defRPr sz="850" b="1">
                <a:solidFill>
                  <a:srgbClr val="D59B2B"/>
                </a:solidFill>
                <a:latin typeface="Arial"/>
              </a:defRPr>
            </a:pPr>
            <a:r>
              <a:t>IA article live · Carte exclusivité · Recherche Google en direct sous ses yeux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600200"/>
            <a:ext cx="2103120" cy="50292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41280" y="1783080"/>
            <a:ext cx="731520" cy="5029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87000" y="1828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237744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CLOSEZ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971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Envoyez le lien Stripe avec le code promo EXCLU10 (-10%). Restez en ligne pendant la saisie.</a:t>
            </a:r>
          </a:p>
          <a:p>
            <a:pPr>
              <a:defRPr sz="850" b="1">
                <a:solidFill>
                  <a:srgbClr val="EF4444"/>
                </a:solidFill>
                <a:latin typeface="Arial"/>
              </a:defRPr>
            </a:pPr>
            <a:r>
              <a:t>765 € HT au lieu de 850 € HT · Code promo = accélérateur de décision immédiate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F2D3D"/>
                </a:solidFill>
                <a:latin typeface="Arial"/>
              </a:defRPr>
            </a:pPr>
            <a:r>
              <a:t>Gainable.fr — contact@gainable.fr — Code promo : EXCLU10 — 0 revente de contact — Le client vous choisit — 0% commission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11 · POSITIONNEMENT CONCURRENTIEL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Comparatif — Gainable.fr vs Bilik, Travaux.com, Selocal, BNI, PagesJaunes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10515600" cy="292608"/>
          </a:xfrm>
          <a:prstGeom prst="roundRect">
            <a:avLst/>
          </a:prstGeom>
          <a:solidFill>
            <a:srgbClr val="1F2D3D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Maîtrisez chaque concurrent pour positionner Gainable.fr sans hésitation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11430000" cy="347472"/>
          </a:xfrm>
          <a:prstGeom prst="rect">
            <a:avLst/>
          </a:prstGeom>
          <a:solidFill>
            <a:srgbClr val="1F2D3D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19202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Critère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19202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D59B2B"/>
                </a:solidFill>
                <a:latin typeface="Arial"/>
              </a:defRPr>
            </a:pPr>
            <a:r>
              <a:t>Gainable.fr 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3" y="19202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Bilik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2743" y="1920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Travaux.com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1504" y="19202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Selocal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8824" y="1920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13264" y="1920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PagesJaunes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67712"/>
            <a:ext cx="114300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34086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Spécialisation CVC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59" y="234086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✅ 100% CVC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34086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BTP gén.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9" y="234086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Tous travaux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34086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Tous métiers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408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Hors sujet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34086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Généraliste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61488"/>
            <a:ext cx="11430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834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Modèle de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59" y="2834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✅ Visibilité directe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28346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Mise en rel.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599" y="2834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Lead x3-5 conc.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8346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Abon.+leads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Recommanda.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834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Lead revendu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55264"/>
            <a:ext cx="114300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32841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Prix annuel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59" y="3328416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✅ 850 € HT fixe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332841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% commission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599" y="332841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40-80€/lead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32841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Variable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328416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1500-2000€+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332841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Variable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49039"/>
            <a:ext cx="11430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382219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Commission chantier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59" y="3822191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✅ 0% 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79" y="3822191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5-15% / vente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599" y="3822191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3822191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3822191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3822191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42816"/>
            <a:ext cx="114300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43159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SEO &amp; Visibilité Google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59" y="431596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✅ +58k pages indexées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79" y="43159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Quelques pgs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599" y="43159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Forte autorité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43159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Faible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43159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0 SEO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43159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Vieillissant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736592"/>
            <a:ext cx="11430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48097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0 revente de contact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59" y="480974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✅ Client vous choisit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79" y="480974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Contact direct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599" y="480974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Lead x3-5 conc.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80974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Variable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48097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Recommandation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20" y="480974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Lead revendu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230368"/>
            <a:ext cx="114300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53035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IA SEO intégrée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51759" y="53035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✅ IA native 2 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79" y="53035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Non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599" y="5303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Non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52360" y="53035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Non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53035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Non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5303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❌ Non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724144"/>
            <a:ext cx="11430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0040" y="579729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F2D3D"/>
                </a:solidFill>
                <a:latin typeface="Arial"/>
              </a:defRPr>
            </a:pPr>
            <a:r>
              <a:t>Complémentaire 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51759" y="5797296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26279" y="579729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Oui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599" y="57972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Éviter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2360" y="579729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Possible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0" y="5797296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10B981"/>
                </a:solidFill>
                <a:latin typeface="Arial"/>
              </a:defRPr>
            </a:pPr>
            <a:r>
              <a:t>✅ Très bien !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7972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Arial"/>
              </a:defRPr>
            </a:pPr>
            <a:r>
              <a:t>⚠️ Faible valeur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74320" y="6373368"/>
            <a:ext cx="11430000" cy="384048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57200" y="640080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2D3D"/>
                </a:solidFill>
                <a:latin typeface="Arial"/>
              </a:defRPr>
            </a:pPr>
            <a:r>
              <a:t>💡 BNI = complément parfait (réseau humain chaud). Travaux.com = anti-modèle à citer : « Vous connaissez le stress d'appeler en 3 min avant 4 concurrents pour brader vos marges ? Chez nous, le client vous appelle VOUS seul.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12 · MAILLAGE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L'Écosystème de Visibilité Gainable.fr — Vue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0" y="1508760"/>
            <a:ext cx="3383280" cy="1005840"/>
          </a:xfrm>
          <a:prstGeom prst="roundRect">
            <a:avLst/>
          </a:prstGeom>
          <a:solidFill>
            <a:srgbClr val="1F2D3D"/>
          </a:solidFill>
          <a:ln w="317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0" y="160020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59B2B"/>
                </a:solidFill>
                <a:latin typeface="Arial"/>
              </a:defRPr>
            </a:pPr>
            <a:r>
              <a:t>Gainable.fr</a:t>
            </a:r>
          </a:p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Hub Central • +58k pages • 3 pays • 100% CVC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651760"/>
            <a:ext cx="1965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651760"/>
            <a:ext cx="1965960" cy="6400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2743200"/>
            <a:ext cx="1783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B82F6"/>
                </a:solidFill>
                <a:latin typeface="Arial"/>
              </a:defRPr>
            </a:pPr>
            <a:r>
              <a:t>🔍 SEO Google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Articles géolocalisés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Mots-clés CVC longue traîne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Rich Snippets JSON-LD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Autorité domaine collective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651760"/>
            <a:ext cx="1965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23160" y="2651760"/>
            <a:ext cx="196596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743200"/>
            <a:ext cx="1783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🌐 Site Officiel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Fiche Pro optimisée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Photos de chantiers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Certifications RGE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Coordonnées directes (0%)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526280"/>
            <a:ext cx="1965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4526280"/>
            <a:ext cx="1965960" cy="6400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79" y="4617720"/>
            <a:ext cx="1783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Arial"/>
              </a:defRPr>
            </a:pPr>
            <a:r>
              <a:t>📱 Réseaux Sociaux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Instagram → leads DM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LinkedIn → B2B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Signaux sociaux Google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Bouche-à-oreille digital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651760"/>
            <a:ext cx="1965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95160" y="2651760"/>
            <a:ext cx="1965960" cy="6400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2743200"/>
            <a:ext cx="1783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F4444"/>
                </a:solidFill>
                <a:latin typeface="Arial"/>
              </a:defRPr>
            </a:pPr>
            <a:r>
              <a:t>📍 Google Maps / GMB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Backlink Gainable→GMB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Avis croisés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Pack Local Google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Requêtes 'près de moi'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651760"/>
            <a:ext cx="1965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2651760"/>
            <a:ext cx="1965960" cy="64008"/>
          </a:xfrm>
          <a:prstGeom prst="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743200"/>
            <a:ext cx="1783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59B2B"/>
                </a:solidFill>
                <a:latin typeface="Arial"/>
              </a:defRPr>
            </a:pPr>
            <a:r>
              <a:t>✍️ Contenu IA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10 articles/mois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120/an par expert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FAQ JSON-LD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Cocon sémantique auto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508760"/>
            <a:ext cx="1965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1508760"/>
            <a:ext cx="1965960" cy="6400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79" y="1600200"/>
            <a:ext cx="1783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8B5CF6"/>
                </a:solidFill>
                <a:latin typeface="Arial"/>
              </a:defRPr>
            </a:pPr>
            <a:r>
              <a:t>🤖 IA &amp; AEO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ChatGPT, Gemini, Perplexity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Réponses directes IA (AEO)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Schema.org complet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  <a:latin typeface="Arial"/>
              </a:defRPr>
            </a:pPr>
            <a:r>
              <a:t>• Position 0 générative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400800"/>
            <a:ext cx="114300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282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⚡ Effet de Maillage = Amplification Exponentielle : Article publié → Indexé Google → Partagé Instagram → Cité par l'IA → Visible sur Maps → L'artisan reçoit des appels sans rien faire.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13 · STRATÉGIE MAILLAGE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3D"/>
                </a:solidFill>
                <a:latin typeface="Arial"/>
              </a:defRPr>
            </a:pPr>
            <a:r>
              <a:t>Les 3 Phases du Maillage — De l'Ancrage à la Dominance Locale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999713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536192"/>
            <a:ext cx="3749039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3749039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📍  Phase 1 — Ancrage</a:t>
            </a:r>
          </a:p>
          <a:p>
            <a:pPr>
              <a:defRPr sz="1000">
                <a:solidFill>
                  <a:srgbClr val="FFFFC8"/>
                </a:solidFill>
                <a:latin typeface="Arial"/>
              </a:defRPr>
            </a:pPr>
            <a:r>
              <a:t>Mois 1 à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23744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Fiche Pro complète : description, certifications, marques posées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3 photos minimum de chantiers récents (intérieur + technique)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Coordonnées directes vérifiées (téléphone + email)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Zone géographique définie avec rayon d'intervention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Premier article SEO optimisé sur la ville principale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Lien depuis GMB → Gainable.fr activé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96712"/>
            <a:ext cx="356616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🎯 Google commence à crawler et indexer la fiche — les fondations sont posées.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36192"/>
            <a:ext cx="3749039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536192"/>
            <a:ext cx="3749039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🕸️  Phase 2 — Maillage</a:t>
            </a:r>
          </a:p>
          <a:p>
            <a:pPr>
              <a:defRPr sz="1000">
                <a:solidFill>
                  <a:srgbClr val="FFFFC8"/>
                </a:solidFill>
                <a:latin typeface="Arial"/>
              </a:defRPr>
            </a:pPr>
            <a:r>
              <a:t>Mois 3 à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23744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8 à 10 articles/mois sur villes + technologies (gainable + multi-split…)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FAQ structurées JSON-LD intégrées pour Featured Snippets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Photos optimisées avec balises Alt localisées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Partages Instagram &amp; LinkedIn des articles publiés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Avis Google croisés avec la fiche Gainable.fr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Backlinks depuis partenaires locaux (électriciens, plombiers…)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696712"/>
            <a:ext cx="356616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576072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🎯 Premières positions sur requêtes longue traîne locales — premiers contacts entrants.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36192"/>
            <a:ext cx="3749039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536192"/>
            <a:ext cx="3749039" cy="914400"/>
          </a:xfrm>
          <a:prstGeom prst="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60020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🏆  Phase 3 — Dominance</a:t>
            </a:r>
          </a:p>
          <a:p>
            <a:pPr>
              <a:defRPr sz="1000">
                <a:solidFill>
                  <a:srgbClr val="FFFFC8"/>
                </a:solidFill>
                <a:latin typeface="Arial"/>
              </a:defRPr>
            </a:pPr>
            <a:r>
              <a:t>Mois 6 et au-delà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23744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Cocon sémantique complet (50+ articles sur la zone)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Featured Snippets capturés via FAQ JSON-LD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Réponses IA (ChatGPT, Gemini) qui citent l'artisan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Backlinks naturels depuis blogs &amp; médias locaux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Page 1 sur requêtes principales de la zone</a:t>
            </a:r>
          </a:p>
          <a:p>
            <a:pPr>
              <a:spcAft>
                <a:spcPts val="400"/>
              </a:spcAft>
              <a:defRPr sz="950">
                <a:solidFill>
                  <a:srgbClr val="1F2D3D"/>
                </a:solidFill>
                <a:latin typeface="Arial"/>
              </a:defRPr>
            </a:pPr>
            <a:r>
              <a:t>✓  2 à 5 contacts qualifiés par mois en entrant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5696712"/>
            <a:ext cx="356616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576072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59B2B"/>
                </a:solidFill>
                <a:latin typeface="Arial"/>
              </a:defRPr>
            </a:pPr>
            <a:r>
              <a:t>🎯 Leads entrants réguliers — l'artisan reçoit des appels sans prospecter.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59B2B"/>
                </a:solidFill>
                <a:latin typeface="Arial"/>
              </a:defRPr>
            </a:pPr>
            <a:r>
              <a:t>14 · MINDSET &amp; ÉTAT D'ESPRIT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La Conviction qui Fait la Différence — Leche Forge et Rend Plus Fort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463040"/>
            <a:ext cx="5760720" cy="1463040"/>
          </a:xfrm>
          <a:prstGeom prst="roundRect">
            <a:avLst/>
          </a:prstGeom>
          <a:solidFill>
            <a:srgbClr val="283A4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73152" cy="14630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1554480"/>
            <a:ext cx="55046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F4444"/>
                </a:solidFill>
                <a:latin typeface="Arial"/>
              </a:defRPr>
            </a:pPr>
            <a:r>
              <a:t>🔥  Le Refus n'est Pas un Échec</a:t>
            </a:r>
          </a:p>
          <a:p>
            <a:pPr>
              <a:spcAft>
                <a:spcPts val="3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Un 'non' = 'pas encore'. Sur 50 prospects : 10 décrochent, 3 sont intéressés, 1-2 signent. Ce ratio est NORMAL. Chaque refus rapproche la signature.</a:t>
            </a:r>
          </a:p>
          <a:p>
            <a:pPr>
              <a:defRPr sz="850" b="1">
                <a:solidFill>
                  <a:srgbClr val="EF4444"/>
                </a:solidFill>
                <a:latin typeface="Arial"/>
              </a:defRPr>
            </a:pPr>
            <a:r>
              <a:t>→ Fixez-vous un quota de refus : 15 'non'/jour = vous avez bien travaillé.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760720" cy="1463040"/>
          </a:xfrm>
          <a:prstGeom prst="roundRect">
            <a:avLst/>
          </a:prstGeom>
          <a:solidFill>
            <a:srgbClr val="283A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73152" cy="14630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1" y="1554480"/>
            <a:ext cx="55046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B82F6"/>
                </a:solidFill>
                <a:latin typeface="Arial"/>
              </a:defRPr>
            </a:pPr>
            <a:r>
              <a:t>🛡️  Croire en son Produit — Conviction Absolue</a:t>
            </a:r>
          </a:p>
          <a:p>
            <a:pPr>
              <a:spcAft>
                <a:spcPts val="3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Gainable.fr crée de la VRAIE valeur. L'IA rédige. Les pages sont indexées. Quand vous présentez, vous n'êtes pas en train de demander de l'argent — vous offrez une opportunité.</a:t>
            </a:r>
          </a:p>
          <a:p>
            <a:pPr>
              <a:defRPr sz="850" b="1">
                <a:solidFill>
                  <a:srgbClr val="3B82F6"/>
                </a:solidFill>
                <a:latin typeface="Arial"/>
              </a:defRPr>
            </a:pPr>
            <a:r>
              <a:t>→ Relisez 1 témoignage de partenaire satisfait chaque matin avant vos appels.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17520"/>
            <a:ext cx="5760720" cy="1463040"/>
          </a:xfrm>
          <a:prstGeom prst="roundRect">
            <a:avLst/>
          </a:prstGeom>
          <a:solidFill>
            <a:srgbClr val="283A4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73152" cy="1463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3108960"/>
            <a:ext cx="55046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📈  La Règle des 50 Touches</a:t>
            </a:r>
          </a:p>
          <a:p>
            <a:pPr>
              <a:spcAft>
                <a:spcPts val="3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Un prospect signe après 5 à 7 touches en moyenne. La plupart des commerciaux abandonnent après 1-2. En suivant la cadence de 5 jours, vous allez là où les autres ne vont pas.</a:t>
            </a:r>
          </a:p>
          <a:p>
            <a:pPr>
              <a:defRPr sz="850" b="1">
                <a:solidFill>
                  <a:srgbClr val="10B981"/>
                </a:solidFill>
                <a:latin typeface="Arial"/>
              </a:defRPr>
            </a:pPr>
            <a:r>
              <a:t>→ Tracez CHAQUE action dans le CRM. Ne classez 'refus définitif' qu'après J5.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17520"/>
            <a:ext cx="5760720" cy="1463040"/>
          </a:xfrm>
          <a:prstGeom prst="roundRect">
            <a:avLst/>
          </a:prstGeom>
          <a:solidFill>
            <a:srgbClr val="283A4F"/>
          </a:solidFill>
          <a:ln w="190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3017520"/>
            <a:ext cx="73152" cy="1463040"/>
          </a:xfrm>
          <a:prstGeom prst="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1" y="3108960"/>
            <a:ext cx="55046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D59B2B"/>
                </a:solidFill>
                <a:latin typeface="Arial"/>
              </a:defRPr>
            </a:pPr>
            <a:r>
              <a:t>⚔️  Le Rituel du Guerrier</a:t>
            </a:r>
          </a:p>
          <a:p>
            <a:pPr>
              <a:spcAft>
                <a:spcPts val="3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Votre état d'esprit se détecte en 3 secondes à la voix. Un commercial fatigué transmet sa fatigue. La préparation mentale est un avantage compétitif concret.</a:t>
            </a:r>
          </a:p>
          <a:p>
            <a:pPr>
              <a:defRPr sz="850" b="1">
                <a:solidFill>
                  <a:srgbClr val="D59B2B"/>
                </a:solidFill>
                <a:latin typeface="Arial"/>
              </a:defRPr>
            </a:pPr>
            <a:r>
              <a:t>→ 2 min de respiration avant les appels. Debout pendant le phoning. Sourire — ça s'entend.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572000"/>
            <a:ext cx="5760720" cy="1463040"/>
          </a:xfrm>
          <a:prstGeom prst="roundRect">
            <a:avLst/>
          </a:prstGeom>
          <a:solidFill>
            <a:srgbClr val="283A4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572000"/>
            <a:ext cx="73152" cy="14630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4663440"/>
            <a:ext cx="55046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97316"/>
                </a:solidFill>
                <a:latin typeface="Arial"/>
              </a:defRPr>
            </a:pPr>
            <a:r>
              <a:t>🌱  Planter et Ne Jamais Abandonner</a:t>
            </a:r>
          </a:p>
          <a:p>
            <a:pPr>
              <a:spcAft>
                <a:spcPts val="3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Un artisan qui dit 'non' en janvier peut signer en mars quand il voit son concurrent sur Google. Votre travail aujourd'hui génère des résultats dans 90 jours.</a:t>
            </a:r>
          </a:p>
          <a:p>
            <a:pPr>
              <a:defRPr sz="850" b="1">
                <a:solidFill>
                  <a:srgbClr val="F97316"/>
                </a:solidFill>
                <a:latin typeface="Arial"/>
              </a:defRPr>
            </a:pPr>
            <a:r>
              <a:t>→ Remontez dans vos 'refus de 3 mois' — c'est votre meilleure base de rappel.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572000"/>
            <a:ext cx="5760720" cy="1463040"/>
          </a:xfrm>
          <a:prstGeom prst="roundRect">
            <a:avLst/>
          </a:prstGeom>
          <a:solidFill>
            <a:srgbClr val="283A4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572000"/>
            <a:ext cx="73152" cy="14630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4663440"/>
            <a:ext cx="55046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F4444"/>
                </a:solidFill>
                <a:latin typeface="Arial"/>
              </a:defRPr>
            </a:pPr>
            <a:r>
              <a:t>🏆  Célébrer Chaque Victoire</a:t>
            </a:r>
          </a:p>
          <a:p>
            <a:pPr>
              <a:spcAft>
                <a:spcPts val="3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Une vente à 850 € HT, c'est entre 85 € et 127 € de commission. Mais c'est aussi un artisan dont la vie va changer. Ce que l'on célèbre, on le reproduit.</a:t>
            </a:r>
          </a:p>
          <a:p>
            <a:pPr>
              <a:defRPr sz="850" b="1">
                <a:solidFill>
                  <a:srgbClr val="EF4444"/>
                </a:solidFill>
                <a:latin typeface="Arial"/>
              </a:defRPr>
            </a:pPr>
            <a:r>
              <a:t>→ Notez chaque vente dans un carnet visible. La liste grandit, ça motive.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59B2B"/>
                </a:solidFill>
                <a:latin typeface="Arial"/>
              </a:defRPr>
            </a:pPr>
            <a:r>
              <a:t>15 · VISION LONG TERME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C'est un Marathon, Pas un Sprint — La Ligne du Temps SEO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La visibilité Google ne se construit pas en une nuit. Plus l'artisan est actif sur Gainable.fr, plus son autorité grandit et plus il domine sa zone.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880360"/>
            <a:ext cx="11277295" cy="91440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880360"/>
            <a:ext cx="2834640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2798064"/>
            <a:ext cx="246888" cy="24688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743200" cy="32004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2743200" cy="6400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64408"/>
            <a:ext cx="24688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3B82F6"/>
                </a:solidFill>
                <a:latin typeface="Arial"/>
              </a:defRPr>
            </a:pPr>
            <a:r>
              <a:t>🌱  Mois 1-3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FONDATIONS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Fiche indexée par Google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Premiers articles publiés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Google commence à voir l'artisan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2798064"/>
            <a:ext cx="246888" cy="2468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91840" y="3200400"/>
            <a:ext cx="2743200" cy="32004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3200400"/>
            <a:ext cx="274320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3264408"/>
            <a:ext cx="24688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📈  Mois 3-6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MONTÉE EN PUISSANCE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Page 2-3 sur requêtes locales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Premiers contacts entrants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Confiance Google augmente</a:t>
            </a:r>
          </a:p>
        </p:txBody>
      </p:sp>
      <p:sp>
        <p:nvSpPr>
          <p:cNvPr id="14" name="Oval 13"/>
          <p:cNvSpPr/>
          <p:nvPr/>
        </p:nvSpPr>
        <p:spPr>
          <a:xfrm>
            <a:off x="7178040" y="2798064"/>
            <a:ext cx="246888" cy="246888"/>
          </a:xfrm>
          <a:prstGeom prst="ellipse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743200" cy="32004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3200400"/>
            <a:ext cx="2743200" cy="64008"/>
          </a:xfrm>
          <a:prstGeom prst="rect">
            <a:avLst/>
          </a:prstGeom>
          <a:solidFill>
            <a:srgbClr val="D59B2B"/>
          </a:solidFill>
          <a:ln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264408"/>
            <a:ext cx="24688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59B2B"/>
                </a:solidFill>
                <a:latin typeface="Arial"/>
              </a:defRPr>
            </a:pPr>
            <a:r>
              <a:t>📞  Mois 6-12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LEADS RÉGULIERS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Page 1 sur requêtes clés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2-5 contacts qualifiés/mois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ROI pleinement atteint</a:t>
            </a:r>
          </a:p>
        </p:txBody>
      </p:sp>
      <p:sp>
        <p:nvSpPr>
          <p:cNvPr id="18" name="Oval 17"/>
          <p:cNvSpPr/>
          <p:nvPr/>
        </p:nvSpPr>
        <p:spPr>
          <a:xfrm>
            <a:off x="10012680" y="2798064"/>
            <a:ext cx="246888" cy="24688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61120" y="3200400"/>
            <a:ext cx="2743200" cy="3200400"/>
          </a:xfrm>
          <a:prstGeom prst="roundRect">
            <a:avLst/>
          </a:prstGeom>
          <a:solidFill>
            <a:srgbClr val="283A4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3200400"/>
            <a:ext cx="2743200" cy="6400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3264408"/>
            <a:ext cx="24688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F4444"/>
                </a:solidFill>
                <a:latin typeface="Arial"/>
              </a:defRPr>
            </a:pPr>
            <a:r>
              <a:t>🏆  12 mois+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DOMINANCE LOCALE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Référent SEO sur la zone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Concurrent difficile à déloger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Chantiers premium en priorité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400800"/>
            <a:ext cx="11277295" cy="347472"/>
          </a:xfrm>
          <a:prstGeom prst="roundRect">
            <a:avLst/>
          </a:prstGeom>
          <a:solidFill>
            <a:srgbClr val="1B2532"/>
          </a:solidFill>
          <a:ln w="19050">
            <a:solidFill>
              <a:srgbClr val="D5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28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59B2B"/>
                </a:solidFill>
                <a:latin typeface="Arial"/>
              </a:defRPr>
            </a:pPr>
            <a:r>
              <a:t>💡 Argument clé : « Le meilleur moment pour planter un arbre était il y a 1 an. Le deuxième meilleur, c'est AUJOURD'HUI. Vos concurrents déjà inscrits récoltent. Chaque mois d'attente = 1 mois de retard.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4909</Words>
  <Application>Microsoft Office PowerPoint</Application>
  <PresentationFormat>Grand écran</PresentationFormat>
  <Paragraphs>483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Maroann Gharib</cp:lastModifiedBy>
  <cp:revision>2</cp:revision>
  <dcterms:created xsi:type="dcterms:W3CDTF">2013-01-27T09:14:16Z</dcterms:created>
  <dcterms:modified xsi:type="dcterms:W3CDTF">2026-06-25T21:12:38Z</dcterms:modified>
  <cp:category/>
</cp:coreProperties>
</file>