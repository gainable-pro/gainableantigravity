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D3D"/>
        </a:solidFill>
        <a:effectLst/>
      </p:bgPr>
    </p:bg>
    <p:spTree>
      <p:nvGrpSpPr>
        <p:cNvPr id="1" name=""/>
        <p:cNvGrpSpPr/>
        <p:nvPr/>
      </p:nvGrpSpPr>
      <p:grpSpPr/>
      <p:sp>
        <p:nvSpPr>
          <p:cNvPr id="2" name="TextBox 1"/>
          <p:cNvSpPr txBox="1"/>
          <p:nvPr/>
        </p:nvSpPr>
        <p:spPr>
          <a:xfrm>
            <a:off x="731520" y="2011680"/>
            <a:ext cx="10698480" cy="4114800"/>
          </a:xfrm>
          <a:prstGeom prst="rect">
            <a:avLst/>
          </a:prstGeom>
          <a:noFill/>
        </p:spPr>
        <p:txBody>
          <a:bodyPr wrap="square">
            <a:spAutoFit/>
          </a:bodyPr>
          <a:lstStyle/>
          <a:p>
            <a:pPr>
              <a:spcAft>
                <a:spcPts val="600"/>
              </a:spcAft>
              <a:defRPr sz="4000" b="1">
                <a:solidFill>
                  <a:srgbClr val="FFFFFF"/>
                </a:solidFill>
                <a:latin typeface="Arial"/>
              </a:defRPr>
            </a:pPr>
            <a:r>
              <a:t>GUIDE COMMERCIAL &amp; DE VENTE</a:t>
            </a:r>
          </a:p>
          <a:p>
            <a:pPr>
              <a:spcAft>
                <a:spcPts val="2000"/>
              </a:spcAft>
              <a:defRPr sz="2000" b="1">
                <a:solidFill>
                  <a:srgbClr val="D59B2B"/>
                </a:solidFill>
                <a:latin typeface="Arial"/>
              </a:defRPr>
            </a:pPr>
            <a:r>
              <a:t>Processus, Écoute Active &amp; Traitement des Objections Artisans</a:t>
            </a:r>
          </a:p>
          <a:p>
            <a:pPr>
              <a:spcAft>
                <a:spcPts val="3000"/>
              </a:spcAft>
              <a:defRPr sz="1300">
                <a:solidFill>
                  <a:srgbClr val="FFFFFF"/>
                </a:solidFill>
                <a:latin typeface="Arial"/>
              </a:defRPr>
            </a:pPr>
            <a:r>
              <a:t>Destiné aux consultants commerciaux Gainable.fr.</a:t>
            </a:r>
            <a:br/>
            <a:r>
              <a:t>Apprenez à cibler le bon client, écouter ses besoins réels et surmonter chaque objection.</a:t>
            </a:r>
          </a:p>
          <a:p>
            <a:pPr>
              <a:defRPr sz="1100">
                <a:solidFill>
                  <a:srgbClr val="64748B"/>
                </a:solidFill>
                <a:latin typeface="Arial"/>
              </a:defRPr>
            </a:pPr>
            <a:r>
              <a:t>Document Interne Confidentiel - Gainable.fr 2026</a:t>
            </a:r>
          </a:p>
        </p:txBody>
      </p:sp>
      <p:pic>
        <p:nvPicPr>
          <p:cNvPr id="3" name="Picture 2" descr="logo.png"/>
          <p:cNvPicPr>
            <a:picLocks noChangeAspect="1"/>
          </p:cNvPicPr>
          <p:nvPr/>
        </p:nvPicPr>
        <p:blipFill>
          <a:blip r:embed="rId2"/>
          <a:stretch>
            <a:fillRect/>
          </a:stretch>
        </p:blipFill>
        <p:spPr>
          <a:xfrm>
            <a:off x="731520" y="914400"/>
            <a:ext cx="2377440"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D59B2B"/>
                </a:solidFill>
                <a:latin typeface="Arial"/>
              </a:defRPr>
            </a:pPr>
            <a:r>
              <a:t>CONNAISSANCE MARCHÉ</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F2D3D"/>
                </a:solidFill>
                <a:latin typeface="Arial"/>
              </a:defRPr>
            </a:pPr>
            <a:r>
              <a:t>Comprendre son prospect : Les problématiques des artisans</a:t>
            </a:r>
          </a:p>
        </p:txBody>
      </p:sp>
      <p:sp>
        <p:nvSpPr>
          <p:cNvPr id="4" name="Rectangle 3"/>
          <p:cNvSpPr/>
          <p:nvPr/>
        </p:nvSpPr>
        <p:spPr>
          <a:xfrm>
            <a:off x="731520" y="128016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spAutoFit/>
          </a:bodyPr>
          <a:lstStyle/>
          <a:p>
            <a:pPr>
              <a:spcAft>
                <a:spcPts val="1500"/>
              </a:spcAft>
              <a:defRPr b="1" sz="1400">
                <a:solidFill>
                  <a:srgbClr val="1F2D3D"/>
                </a:solidFill>
              </a:defRPr>
            </a:pPr>
            <a:r>
              <a:t>Pour vendre efficacement, vous devez résonner avec les douleurs réelles rencontrées par les experts CVC, diagnostiqueurs et bureaux d'études au quotidien :</a:t>
            </a:r>
          </a:p>
          <a:p>
            <a:pPr>
              <a:spcAft>
                <a:spcPts val="800"/>
              </a:spcAft>
              <a:defRPr sz="1250">
                <a:latin typeface="Arial"/>
              </a:defRPr>
            </a:pPr>
            <a:r>
              <a:rPr b="1">
                <a:solidFill>
                  <a:srgbClr val="1F2D3D"/>
                </a:solidFill>
              </a:rPr>
              <a:t>1. La revente multiple de leads (Le grand fléau) : </a:t>
            </a:r>
            <a:r>
              <a:rPr b="0">
                <a:solidFill>
                  <a:srgbClr val="64748B"/>
                </a:solidFill>
              </a:rPr>
              <a:t>Les plateformes de devis traditionnelles revendent le même prospect à 3, 4 ou 5 concurrents. Cela déclenche une guerre des prix agressive vers le bas, détruisant leurs marges et leur temps.</a:t>
            </a:r>
          </a:p>
          <a:p>
            <a:pPr>
              <a:spcAft>
                <a:spcPts val="800"/>
              </a:spcAft>
              <a:defRPr sz="1250">
                <a:latin typeface="Arial"/>
              </a:defRPr>
            </a:pPr>
            <a:r>
              <a:rPr b="1">
                <a:solidFill>
                  <a:srgbClr val="1F2D3D"/>
                </a:solidFill>
              </a:rPr>
              <a:t>2. Le manque de temps et d'expertise digitale : </a:t>
            </a:r>
            <a:r>
              <a:rPr b="0">
                <a:solidFill>
                  <a:srgbClr val="64748B"/>
                </a:solidFill>
              </a:rPr>
              <a:t>Un artisan passe ses journées sur les chantiers. Il n'a ni le temps ni les compétences pour optimiser son référencement Google, rédiger du contenu SEO ou configurer des campagnes publicitaires complexes.</a:t>
            </a:r>
          </a:p>
          <a:p>
            <a:pPr>
              <a:spcAft>
                <a:spcPts val="800"/>
              </a:spcAft>
              <a:defRPr sz="1250">
                <a:latin typeface="Arial"/>
              </a:defRPr>
            </a:pPr>
            <a:r>
              <a:rPr b="1">
                <a:solidFill>
                  <a:srgbClr val="1F2D3D"/>
                </a:solidFill>
              </a:rPr>
              <a:t>3. Le coût publicitaire exorbitant (Google/Meta Ads) : </a:t>
            </a:r>
            <a:r>
              <a:rPr b="0">
                <a:solidFill>
                  <a:srgbClr val="64748B"/>
                </a:solidFill>
              </a:rPr>
              <a:t>Gérer seul du Google Ads est risqué et coûteux. Sans expertise, ils dépensent des centaines d'euros pour de simples clics de curieux sans jamais signer de contrat.</a:t>
            </a:r>
          </a:p>
          <a:p>
            <a:pPr>
              <a:spcAft>
                <a:spcPts val="800"/>
              </a:spcAft>
              <a:defRPr sz="1250">
                <a:latin typeface="Arial"/>
              </a:defRPr>
            </a:pPr>
            <a:r>
              <a:rPr b="1">
                <a:solidFill>
                  <a:srgbClr val="1F2D3D"/>
                </a:solidFill>
              </a:rPr>
              <a:t>4. L'isolement commercial : </a:t>
            </a:r>
            <a:r>
              <a:rPr b="0">
                <a:solidFill>
                  <a:srgbClr val="64748B"/>
                </a:solidFill>
              </a:rPr>
              <a:t>Les TPE/PME du bâtiment n'ont pas les moyens des grands groupes pour s'imposer sur le web. Ils ont besoin d'un partenaire d'autorité globale pour les propulser localement.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D59B2B"/>
                </a:solidFill>
                <a:latin typeface="Arial"/>
              </a:defRPr>
            </a:pPr>
            <a:r>
              <a:t>MÉTHODOLOGIE COMMERCIALE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F2D3D"/>
                </a:solidFill>
                <a:latin typeface="Arial"/>
              </a:defRPr>
            </a:pPr>
            <a:r>
              <a:t>Processus : La détection des besoins avant d'appeler le client</a:t>
            </a:r>
          </a:p>
        </p:txBody>
      </p:sp>
      <p:sp>
        <p:nvSpPr>
          <p:cNvPr id="4" name="Rectangle 3"/>
          <p:cNvSpPr/>
          <p:nvPr/>
        </p:nvSpPr>
        <p:spPr>
          <a:xfrm>
            <a:off x="731520" y="128016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spAutoFit/>
          </a:bodyPr>
          <a:lstStyle/>
          <a:p>
            <a:pPr>
              <a:spcAft>
                <a:spcPts val="1500"/>
              </a:spcAft>
              <a:defRPr b="1" sz="1400">
                <a:solidFill>
                  <a:srgbClr val="1F2D3D"/>
                </a:solidFill>
              </a:defRPr>
            </a:pPr>
            <a:r>
              <a:t>Ne passez jamais d'appel à froid sans préparation. L'analyse préalable permet de personnaliser l'approche commerciale et d'établir une autorité immédiate :</a:t>
            </a:r>
          </a:p>
          <a:p>
            <a:pPr>
              <a:spcAft>
                <a:spcPts val="800"/>
              </a:spcAft>
              <a:defRPr sz="1250">
                <a:latin typeface="Arial"/>
              </a:defRPr>
            </a:pPr>
            <a:r>
              <a:rPr b="1">
                <a:solidFill>
                  <a:srgbClr val="1F2D3D"/>
                </a:solidFill>
              </a:rPr>
              <a:t>• Analyse de la présence web : </a:t>
            </a:r>
            <a:r>
              <a:rPr b="0">
                <a:solidFill>
                  <a:srgbClr val="64748B"/>
                </a:solidFill>
              </a:rPr>
              <a:t>Recherchez le nom de l'entreprise sur Google. Ont-ils un site web ? Est-il responsive ? Ont-ils des avis Google My Business récents ? Si leur site est daté, c'est un point d'appui majeur pour notre solution de fiches pros optimisées.</a:t>
            </a:r>
          </a:p>
          <a:p>
            <a:pPr>
              <a:spcAft>
                <a:spcPts val="800"/>
              </a:spcAft>
              <a:defRPr sz="1250">
                <a:latin typeface="Arial"/>
              </a:defRPr>
            </a:pPr>
            <a:r>
              <a:rPr b="1">
                <a:solidFill>
                  <a:srgbClr val="1F2D3D"/>
                </a:solidFill>
              </a:rPr>
              <a:t>• Audit SEO de sa localité : </a:t>
            </a:r>
            <a:r>
              <a:rPr b="0">
                <a:solidFill>
                  <a:srgbClr val="64748B"/>
                </a:solidFill>
              </a:rPr>
              <a:t>Faites une recherche rapide Google (ex: 'climatisation gainable + leur ville'). Regardez si l'artisan apparaît dans les premiers résultats. Montrez-lui que Gainable.fr y figure déjà, et qu'adhérer au réseau lui permet d'occuper cette place immédiatement.</a:t>
            </a:r>
          </a:p>
          <a:p>
            <a:pPr>
              <a:spcAft>
                <a:spcPts val="800"/>
              </a:spcAft>
              <a:defRPr sz="1250">
                <a:latin typeface="Arial"/>
              </a:defRPr>
            </a:pPr>
            <a:r>
              <a:rPr b="1">
                <a:solidFill>
                  <a:srgbClr val="1F2D3D"/>
                </a:solidFill>
              </a:rPr>
              <a:t>• Détection des budgets publicitaires : </a:t>
            </a:r>
            <a:r>
              <a:rPr b="0">
                <a:solidFill>
                  <a:srgbClr val="64748B"/>
                </a:solidFill>
              </a:rPr>
              <a:t>Regardez s'ils achètent des mots-clés Google Ads (présence du badge 'Sponsorisé'). S'ils paient de la publicité payante Google, ils sont conscients de l'importance du digital mais paient probablement trop cher par lead par rapport à notre abonnement fixe.</a:t>
            </a:r>
          </a:p>
          <a:p>
            <a:pPr>
              <a:spcAft>
                <a:spcPts val="800"/>
              </a:spcAft>
              <a:defRPr sz="1250">
                <a:latin typeface="Arial"/>
              </a:defRPr>
            </a:pPr>
            <a:r>
              <a:rPr b="1">
                <a:solidFill>
                  <a:srgbClr val="1F2D3D"/>
                </a:solidFill>
              </a:rPr>
              <a:t>• Ciblage précis de sa typologie : </a:t>
            </a:r>
            <a:r>
              <a:rPr b="0">
                <a:solidFill>
                  <a:srgbClr val="64748B"/>
                </a:solidFill>
              </a:rPr>
              <a:t>Ciblez le bon interlocuteur en vérifiant le code APE et le dirigeant. Proposez l'offre Expert CVC (850 € HT) aux installateurs, et Diag Immo (750 € HT) aux diagnostiqueurs. Adaptez le vocabulaire technique.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D59B2B"/>
                </a:solidFill>
                <a:latin typeface="Arial"/>
              </a:defRPr>
            </a:pPr>
            <a:r>
              <a:t>POSTURE COMMERCIALE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F2D3D"/>
                </a:solidFill>
                <a:latin typeface="Arial"/>
              </a:defRPr>
            </a:pPr>
            <a:r>
              <a:t>L'Appel : Pratiquer l'écoute active et l'empathie</a:t>
            </a:r>
          </a:p>
        </p:txBody>
      </p:sp>
      <p:sp>
        <p:nvSpPr>
          <p:cNvPr id="4" name="Rectangle 3"/>
          <p:cNvSpPr/>
          <p:nvPr/>
        </p:nvSpPr>
        <p:spPr>
          <a:xfrm>
            <a:off x="731520" y="128016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spAutoFit/>
          </a:bodyPr>
          <a:lstStyle/>
          <a:p>
            <a:pPr>
              <a:spcAft>
                <a:spcPts val="1500"/>
              </a:spcAft>
              <a:defRPr b="1" sz="1400">
                <a:solidFill>
                  <a:srgbClr val="1F2D3D"/>
                </a:solidFill>
              </a:defRPr>
            </a:pPr>
            <a:r>
              <a:t>L'écoute active représente 70% de la réussite d'une vente. Ne parlez pas immédiatement de technique ou de tarif, laissez l'artisan exprimer ses frustrations :</a:t>
            </a:r>
          </a:p>
          <a:p>
            <a:pPr>
              <a:spcAft>
                <a:spcPts val="800"/>
              </a:spcAft>
              <a:defRPr sz="1250">
                <a:latin typeface="Arial"/>
              </a:defRPr>
            </a:pPr>
            <a:r>
              <a:rPr b="1">
                <a:solidFill>
                  <a:srgbClr val="1F2D3D"/>
                </a:solidFill>
              </a:rPr>
              <a:t>• Valider ses frustrations avec empathie : </a:t>
            </a:r>
            <a:r>
              <a:rPr b="0">
                <a:solidFill>
                  <a:srgbClr val="64748B"/>
                </a:solidFill>
              </a:rPr>
              <a:t>S'il se plaint des plateformes de devis classiques ou de clients 'curieux', rebondissez : 'Je comprends tout à fait, c'est très frustrant de payer pour des leads partagés avec 4 concurrents et de ne pas être rappelé.' Cela crée une alliance.</a:t>
            </a:r>
          </a:p>
          <a:p>
            <a:pPr>
              <a:spcAft>
                <a:spcPts val="800"/>
              </a:spcAft>
              <a:defRPr sz="1250">
                <a:latin typeface="Arial"/>
              </a:defRPr>
            </a:pPr>
            <a:r>
              <a:rPr b="1">
                <a:solidFill>
                  <a:srgbClr val="1F2D3D"/>
                </a:solidFill>
              </a:rPr>
              <a:t>• Poser des questions ouvertes ciblées : </a:t>
            </a:r>
            <a:r>
              <a:rPr b="0">
                <a:solidFill>
                  <a:srgbClr val="64748B"/>
                </a:solidFill>
              </a:rPr>
              <a:t>Posez des questions du type : 'Comment faites-vous aujourd'hui pour combler les périodes creuses ?' ou 'Combien vous coûte l'acquisition d'un nouveau client ?'. Laissez-le quantifier lui-même ses dépenses.</a:t>
            </a:r>
          </a:p>
          <a:p>
            <a:pPr>
              <a:spcAft>
                <a:spcPts val="800"/>
              </a:spcAft>
              <a:defRPr sz="1250">
                <a:latin typeface="Arial"/>
              </a:defRPr>
            </a:pPr>
            <a:r>
              <a:rPr b="1">
                <a:solidFill>
                  <a:srgbClr val="1F2D3D"/>
                </a:solidFill>
              </a:rPr>
              <a:t>• Reformuler pour montrer sa compréhension : </a:t>
            </a:r>
            <a:r>
              <a:rPr b="0">
                <a:solidFill>
                  <a:srgbClr val="64748B"/>
                </a:solidFill>
              </a:rPr>
              <a:t>'Si je comprends bien, vous cherchez un canal qui vous apporte des clients en direct dans votre zone, sans intermédiaire, et sans que vos marges soient détruites ?' Le prospect doit valider par un 'Oui' franc.</a:t>
            </a:r>
          </a:p>
          <a:p>
            <a:pPr>
              <a:spcAft>
                <a:spcPts val="800"/>
              </a:spcAft>
              <a:defRPr sz="1250">
                <a:latin typeface="Arial"/>
              </a:defRPr>
            </a:pPr>
            <a:r>
              <a:rPr b="1">
                <a:solidFill>
                  <a:srgbClr val="1F2D3D"/>
                </a:solidFill>
              </a:rPr>
              <a:t>• Présenter Gainable.fr comme l'anti-plateforme : </a:t>
            </a:r>
            <a:r>
              <a:rPr b="0">
                <a:solidFill>
                  <a:srgbClr val="64748B"/>
                </a:solidFill>
              </a:rPr>
              <a:t>Insistez sur la mise en relation directe (le client l'appelle directement, pas de revente), et l'abonnement annuel fixe (pas de commission au chantier).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D59B2B"/>
                </a:solidFill>
                <a:latin typeface="Arial"/>
              </a:defRPr>
            </a:pPr>
            <a:r>
              <a:t>OBJECTIONS &amp; CONTRE-ARGUMENTS</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F2D3D"/>
                </a:solidFill>
                <a:latin typeface="Arial"/>
              </a:defRPr>
            </a:pPr>
            <a:r>
              <a:t>Traitement des objections courantes (Partie 1)</a:t>
            </a:r>
          </a:p>
        </p:txBody>
      </p:sp>
      <p:sp>
        <p:nvSpPr>
          <p:cNvPr id="4" name="Rectangle 3"/>
          <p:cNvSpPr/>
          <p:nvPr/>
        </p:nvSpPr>
        <p:spPr>
          <a:xfrm>
            <a:off x="731520" y="128016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spAutoFit/>
          </a:bodyPr>
          <a:lstStyle/>
          <a:p>
            <a:pPr>
              <a:spcAft>
                <a:spcPts val="1500"/>
              </a:spcAft>
              <a:defRPr b="1" sz="1400">
                <a:solidFill>
                  <a:srgbClr val="1F2D3D"/>
                </a:solidFill>
              </a:defRPr>
            </a:pPr>
            <a:r>
              <a:t>Soyez prêt à surmonter les deux barrières les plus fréquentes en réorientant sur le retour sur investissement (ROI) :</a:t>
            </a:r>
          </a:p>
          <a:p>
            <a:pPr>
              <a:spcAft>
                <a:spcPts val="800"/>
              </a:spcAft>
              <a:defRPr sz="1250">
                <a:latin typeface="Arial"/>
              </a:defRPr>
            </a:pPr>
            <a:r>
              <a:rPr b="1">
                <a:solidFill>
                  <a:srgbClr val="1F2D3D"/>
                </a:solidFill>
              </a:rPr>
              <a:t>Objection A : « C'est trop cher ! (850 € ou 750 € HT par an) »
</a:t>
            </a:r>
            <a:r>
              <a:rPr b="0">
                <a:solidFill>
                  <a:srgbClr val="64748B"/>
                </a:solidFill>
              </a:rPr>
              <a:t>• Contre-argument 1 : Ramenez le tarif à l'échelle quotidienne : cela représente moins de 2,30 € HT par jour. C'est inférieur au prix d'un café !
• Contre-argument 2 : Comparez avec d'autres canaux : sur les plateformes de leads classiques, un seul lead climatisation qualifié coûte entre 40 et 80 € HT, qu'il soit signé ou non. Chez nous, l'adhésion est rentabilisée dès le premier chantier signé.
• Contre-argument 3 : Insistez sur le 0% commission : si le professionnel signe un chantier à 10 000 €, il ne nous doit rien de plus.</a:t>
            </a:r>
          </a:p>
          <a:p>
            <a:pPr>
              <a:spcAft>
                <a:spcPts val="800"/>
              </a:spcAft>
              <a:defRPr sz="1250">
                <a:latin typeface="Arial"/>
              </a:defRPr>
            </a:pPr>
            <a:r>
              <a:rPr b="1">
                <a:solidFill>
                  <a:srgbClr val="1F2D3D"/>
                </a:solidFill>
              </a:rPr>
              <a:t>Objection B : « J'ai déjà testé des plateformes de devis, ça ne marche pas, les leads sont mauvais. »
</a:t>
            </a:r>
            <a:r>
              <a:rPr b="0">
                <a:solidFill>
                  <a:srgbClr val="64748B"/>
                </a:solidFill>
              </a:rPr>
              <a:t>• Contre-argument 1 : Expliquez notre différence fondamentale : nous ne sommes pas une plateforme de vente de leads. Nous sommes un annuaire de visibilité directe.
• Contre-argument 2 : Le parcours utilisateur : les particuliers nous trouvent via des recherches Google ultra-ciblées. Ils consultent la fiche de l'artisan, voient ses réalisations, et décident de l'appeler directement. Il n'y a aucun intermédiaire et aucune revente multiple.
• Contre-argument 3 : Des fiches d'intervention détaillées pour limiter les curieux.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D59B2B"/>
                </a:solidFill>
                <a:latin typeface="Arial"/>
              </a:defRPr>
            </a:pPr>
            <a:r>
              <a:t>OBJECTIONS &amp; CONTRE-ARGUMENTS</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F2D3D"/>
                </a:solidFill>
                <a:latin typeface="Arial"/>
              </a:defRPr>
            </a:pPr>
            <a:r>
              <a:t>Traitement des objections courantes (Partie 2)</a:t>
            </a:r>
          </a:p>
        </p:txBody>
      </p:sp>
      <p:sp>
        <p:nvSpPr>
          <p:cNvPr id="4" name="Rectangle 3"/>
          <p:cNvSpPr/>
          <p:nvPr/>
        </p:nvSpPr>
        <p:spPr>
          <a:xfrm>
            <a:off x="731520" y="128016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spAutoFit/>
          </a:bodyPr>
          <a:lstStyle/>
          <a:p>
            <a:pPr>
              <a:spcAft>
                <a:spcPts val="1500"/>
              </a:spcAft>
              <a:defRPr b="1" sz="1400">
                <a:solidFill>
                  <a:srgbClr val="1F2D3D"/>
                </a:solidFill>
              </a:defRPr>
            </a:pPr>
            <a:r>
              <a:t>Savoir traiter le manque de temps ou l'autosatisfaction sur leur carnet de commandes actuel :</a:t>
            </a:r>
          </a:p>
          <a:p>
            <a:pPr>
              <a:spcAft>
                <a:spcPts val="800"/>
              </a:spcAft>
              <a:defRPr sz="1250">
                <a:latin typeface="Arial"/>
              </a:defRPr>
            </a:pPr>
            <a:r>
              <a:rPr b="1">
                <a:solidFill>
                  <a:srgbClr val="1F2D3D"/>
                </a:solidFill>
              </a:rPr>
              <a:t>Objection C : « Je n'ai pas le temps de rédiger des articles ou de m'occuper du SEO. »
</a:t>
            </a:r>
            <a:r>
              <a:rPr b="0">
                <a:solidFill>
                  <a:srgbClr val="64748B"/>
                </a:solidFill>
              </a:rPr>
              <a:t>• Contre-argument 1 : L'Assistant Rédacteur IA intégré : l'artisan n'a rien à écrire lui-même. Notre Espace Pro intègre un rédacteur IA expert en génie climatique.
• Contre-argument 2 : Rédiger en 2 minutes : il saisit le nom de sa ville, décrit son dernier chantier en 3 mots ('installation bi-split Daikin'), et l'IA génère un article optimisé de 800 mots prêt à publier en un clic.
• Contre-argument 3 : C'est notre plateforme qui pousse la technique SEO, ils n'ont aucune configuration à faire.</a:t>
            </a:r>
          </a:p>
          <a:p>
            <a:pPr>
              <a:spcAft>
                <a:spcPts val="800"/>
              </a:spcAft>
              <a:defRPr sz="1250">
                <a:latin typeface="Arial"/>
              </a:defRPr>
            </a:pPr>
            <a:r>
              <a:rPr b="1">
                <a:solidFill>
                  <a:srgbClr val="1F2D3D"/>
                </a:solidFill>
              </a:rPr>
              <a:t>Objection D : « Je suis complet pour les 6 prochains mois, je n'ai pas besoin de nouveaux chantiers. »
</a:t>
            </a:r>
            <a:r>
              <a:rPr b="0">
                <a:solidFill>
                  <a:srgbClr val="64748B"/>
                </a:solidFill>
              </a:rPr>
              <a:t>• Contre-argument 1 : Anticiper pour l'avenir : le référencement naturel (SEO) est un travail de fond. Les articles publiés aujourd'hui génèrent du trafic dans 3 à 6 mois. Commencer maintenant permet de blinder son carnet pour la saison suivante.
• Contre-argument 2 : Choisir de meilleurs chantiers : avoir plus de demandes permet d'être plus sélectif, de choisir les chantiers les plus rentables ou les plus proches géographiquement, et d'augmenter ses marges.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D59B2B"/>
                </a:solidFill>
                <a:latin typeface="Arial"/>
              </a:defRPr>
            </a:pPr>
            <a:r>
              <a:t>STRATÉGIES COMMERCIALES MULTICANAL</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F2D3D"/>
                </a:solidFill>
                <a:latin typeface="Arial"/>
              </a:defRPr>
            </a:pPr>
            <a:r>
              <a:t>Boosters de vente : Canaux d'acquisition et prospection</a:t>
            </a:r>
          </a:p>
        </p:txBody>
      </p:sp>
      <p:sp>
        <p:nvSpPr>
          <p:cNvPr id="4" name="Rectangle 3"/>
          <p:cNvSpPr/>
          <p:nvPr/>
        </p:nvSpPr>
        <p:spPr>
          <a:xfrm>
            <a:off x="731520" y="128016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spAutoFit/>
          </a:bodyPr>
          <a:lstStyle/>
          <a:p>
            <a:pPr>
              <a:spcAft>
                <a:spcPts val="1500"/>
              </a:spcAft>
              <a:defRPr b="1" sz="1400">
                <a:solidFill>
                  <a:srgbClr val="1F2D3D"/>
                </a:solidFill>
              </a:defRPr>
            </a:pPr>
            <a:r>
              <a:t>Les consultants commerciaux sont encouragés à utiliser d'autres leviers pour prospecter des experts CVC, Diagnostiqueurs et Bureaux d'Étude :</a:t>
            </a:r>
          </a:p>
          <a:p>
            <a:pPr>
              <a:spcAft>
                <a:spcPts val="800"/>
              </a:spcAft>
              <a:defRPr sz="1250">
                <a:latin typeface="Arial"/>
              </a:defRPr>
            </a:pPr>
            <a:r>
              <a:rPr b="1">
                <a:solidFill>
                  <a:srgbClr val="1F2D3D"/>
                </a:solidFill>
              </a:rPr>
              <a:t>• LinkedIn &amp; Social Selling : </a:t>
            </a:r>
            <a:r>
              <a:rPr b="0">
                <a:solidFill>
                  <a:srgbClr val="64748B"/>
                </a:solidFill>
              </a:rPr>
              <a:t>Ciblez les dirigeants d'entreprises de climatisation, de plomberie-chauffage ou de cabinets de diagnostic immobilier. Envoyez des messages directs en mettant l'accent sur les problématiques de revente de leads. Exemple : 'Marre de batailler sur les prix avec 4 concurrents sur le même devis ?'.</a:t>
            </a:r>
          </a:p>
          <a:p>
            <a:pPr>
              <a:spcAft>
                <a:spcPts val="800"/>
              </a:spcAft>
              <a:defRPr sz="1250">
                <a:latin typeface="Arial"/>
              </a:defRPr>
            </a:pPr>
            <a:r>
              <a:rPr b="1">
                <a:solidFill>
                  <a:srgbClr val="1F2D3D"/>
                </a:solidFill>
              </a:rPr>
              <a:t>• Automatisation de la prospection : </a:t>
            </a:r>
            <a:r>
              <a:rPr b="0">
                <a:solidFill>
                  <a:srgbClr val="64748B"/>
                </a:solidFill>
              </a:rPr>
              <a:t>Utilisez des outils d'extraction et d'emailing pour envoyer des séquences courtes et ciblées aux artisans n'apparaissant pas en première page Google sur leur secteur. Proposez-leur un diagnostic gratuit de leur visibilité locale.</a:t>
            </a:r>
          </a:p>
          <a:p>
            <a:pPr>
              <a:spcAft>
                <a:spcPts val="800"/>
              </a:spcAft>
              <a:defRPr sz="1250">
                <a:latin typeface="Arial"/>
              </a:defRPr>
            </a:pPr>
            <a:r>
              <a:rPr b="1">
                <a:solidFill>
                  <a:srgbClr val="1F2D3D"/>
                </a:solidFill>
              </a:rPr>
              <a:t>• Campagnes Publicitaires Meta (Facebook / Instagram) : </a:t>
            </a:r>
            <a:r>
              <a:rPr b="0">
                <a:solidFill>
                  <a:srgbClr val="64748B"/>
                </a:solidFill>
              </a:rPr>
              <a:t>Ciblez les professionnels du BTP en local. [IMPORTANT] Toute création de campagne ou de publicité payante Meta au nom de Gainable.fr doit obligatoirement faire l'objet d'une validation et d'une coordination technique préalable par Exceeddigital.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F2D3D"/>
        </a:solidFill>
        <a:effectLst/>
      </p:bgPr>
    </p:bg>
    <p:spTree>
      <p:nvGrpSpPr>
        <p:cNvPr id="1" name=""/>
        <p:cNvGrpSpPr/>
        <p:nvPr/>
      </p:nvGrpSpPr>
      <p:grpSpPr/>
      <p:sp>
        <p:nvSpPr>
          <p:cNvPr id="2" name="TextBox 1"/>
          <p:cNvSpPr txBox="1"/>
          <p:nvPr/>
        </p:nvSpPr>
        <p:spPr>
          <a:xfrm>
            <a:off x="731520" y="1645920"/>
            <a:ext cx="10698480" cy="4572000"/>
          </a:xfrm>
          <a:prstGeom prst="rect">
            <a:avLst/>
          </a:prstGeom>
          <a:noFill/>
        </p:spPr>
        <p:txBody>
          <a:bodyPr wrap="square">
            <a:spAutoFit/>
          </a:bodyPr>
          <a:lstStyle/>
          <a:p>
            <a:pPr>
              <a:spcAft>
                <a:spcPts val="1500"/>
              </a:spcAft>
              <a:defRPr sz="2800" b="1">
                <a:solidFill>
                  <a:srgbClr val="FFFFFF"/>
                </a:solidFill>
                <a:latin typeface="Arial"/>
              </a:defRPr>
            </a:pPr>
            <a:r>
              <a:t>Votre mission : Devenir le partenaire croissance des artisans</a:t>
            </a:r>
          </a:p>
          <a:p>
            <a:pPr>
              <a:spcAft>
                <a:spcPts val="800"/>
              </a:spcAft>
              <a:defRPr sz="1400">
                <a:latin typeface="Arial"/>
              </a:defRPr>
            </a:pPr>
            <a:r>
              <a:rPr b="1">
                <a:solidFill>
                  <a:srgbClr val="FFFFFF"/>
                </a:solidFill>
              </a:rPr>
              <a:t>✔ Une solution saine : </a:t>
            </a:r>
            <a:r>
              <a:rPr b="0">
                <a:solidFill>
                  <a:srgbClr val="64748B"/>
                </a:solidFill>
              </a:rPr>
              <a:t>Vous ne proposez pas de la dépense publicitaire volatile, mais un investissement de visibilité locale durable et éthique sans commission.</a:t>
            </a:r>
          </a:p>
          <a:p>
            <a:pPr>
              <a:spcAft>
                <a:spcPts val="800"/>
              </a:spcAft>
              <a:defRPr sz="1400">
                <a:latin typeface="Arial"/>
              </a:defRPr>
            </a:pPr>
            <a:r>
              <a:rPr b="1">
                <a:solidFill>
                  <a:srgbClr val="FFFFFF"/>
                </a:solidFill>
              </a:rPr>
              <a:t>✔ Une adhésion simple à rentabiliser : </a:t>
            </a:r>
            <a:r>
              <a:rPr b="0">
                <a:solidFill>
                  <a:srgbClr val="64748B"/>
                </a:solidFill>
              </a:rPr>
              <a:t>Pour vos prospects, une seule vente générée par Gainable.fr couvre largement le coût de l'abonnement annuel.</a:t>
            </a:r>
          </a:p>
          <a:p>
            <a:pPr>
              <a:spcAft>
                <a:spcPts val="800"/>
              </a:spcAft>
              <a:defRPr sz="1400">
                <a:latin typeface="Arial"/>
              </a:defRPr>
            </a:pPr>
            <a:r>
              <a:rPr b="1">
                <a:solidFill>
                  <a:srgbClr val="FFFFFF"/>
                </a:solidFill>
              </a:rPr>
              <a:t>✔ Des outils de prospection libres : </a:t>
            </a:r>
            <a:r>
              <a:rPr b="0">
                <a:solidFill>
                  <a:srgbClr val="64748B"/>
                </a:solidFill>
              </a:rPr>
              <a:t>Utilisez LinkedIn, l'emailing ciblé ou le phoning. Coordonnez vos publicités Meta avec Exceeddigital pour démultiplier vos résultats.</a:t>
            </a:r>
          </a:p>
          <a:p>
            <a:pPr>
              <a:spcAft>
                <a:spcPts val="800"/>
              </a:spcAft>
              <a:defRPr sz="1400">
                <a:latin typeface="Arial"/>
              </a:defRPr>
            </a:pPr>
            <a:r>
              <a:rPr b="1">
                <a:solidFill>
                  <a:srgbClr val="FFFFFF"/>
                </a:solidFill>
              </a:rPr>
              <a:t>✔ Commissions motivantes : </a:t>
            </a:r>
            <a:r>
              <a:rPr b="0">
                <a:solidFill>
                  <a:srgbClr val="64748B"/>
                </a:solidFill>
              </a:rPr>
              <a:t>En tant que consultant, vous bénéficiez d'une commission attractive calculée en temps réel sur la valeur finale de chaque abonnement vendu.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