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PLAYBOOK COMMERCIAL &amp; VENTE</a:t>
            </a:r>
          </a:p>
          <a:p>
            <a:pPr>
              <a:spcAft>
                <a:spcPts val="2000"/>
              </a:spcAft>
              <a:defRPr sz="1800" b="1">
                <a:solidFill>
                  <a:srgbClr val="D59B2B"/>
                </a:solidFill>
                <a:latin typeface="Arial"/>
              </a:defRPr>
            </a:pPr>
            <a:r>
              <a:t>Secteur CVC / Génie Climatique - Gainable.fr</a:t>
            </a:r>
          </a:p>
          <a:p>
            <a:pPr>
              <a:spcAft>
                <a:spcPts val="35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Guide complet de prospection pour les commerciaux.</a:t>
            </a:r>
            <a:br/>
            <a:r>
              <a:t>Sourcing ciblé, écoute active, contournement de secrétariat, social selling (LinkedIn &amp; Instagram) et closing Stripe.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Gainable.fr - 2026 | Document Interne Confidentiel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2377440" cy="713232"/>
          </a:xfrm>
          <a:prstGeom prst="rect">
            <a:avLst/>
          </a:prstGeom>
        </p:spPr>
      </p:pic>
      <p:pic>
        <p:nvPicPr>
          <p:cNvPr id="4" name="Picture 3" descr="commercial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POSTURE &amp; 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La Posture : L'Accompagnateur de Croissance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Nous ne demandons pas la charité. Nous sommes des partenaires de croissance venus structurer et assainir un marché abîmé :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Valoriser les vrais professionnels : </a:t>
            </a:r>
            <a:r>
              <a:rPr b="0">
                <a:solidFill>
                  <a:srgbClr val="64748B"/>
                </a:solidFill>
              </a:rPr>
              <a:t>Le marché CVC est saturé d'installateurs non qualifiés qui cassent les prix. Gainable.fr labellise uniquement les entreprises certifiées, sérieuses et solvables.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Éliminer les intermédiaires toxiques : </a:t>
            </a:r>
            <a:r>
              <a:rPr b="0">
                <a:solidFill>
                  <a:srgbClr val="64748B"/>
                </a:solidFill>
              </a:rPr>
              <a:t>Mettre fin à la dépendance des artisans vis-à-vis des plateformes de revente de leads multiples qui organisent la guerre des prix.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Démocratiser les outils des grands groupes : </a:t>
            </a:r>
            <a:r>
              <a:rPr b="0">
                <a:solidFill>
                  <a:srgbClr val="64748B"/>
                </a:solidFill>
              </a:rPr>
              <a:t>Fournir une visibilité Google locale surpuissante via un Agent IA expert en génie climatique pour un tarif fixe sans commission.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Posture de conseil : </a:t>
            </a:r>
            <a:r>
              <a:rPr b="0">
                <a:solidFill>
                  <a:srgbClr val="64748B"/>
                </a:solidFill>
              </a:rPr>
              <a:t>Ne jamais dire 'On vous propose', mais plutôt 'On vous accompagne'. Ne jamais dire 'Vendre de la visibilité', mais 'Structurer votre acquisition et assainir la concurrence'.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MÉTHODOLOGIE COMMERCIALE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Méthode : Préparation avant-appel &amp; Passage Secrétariat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Un cold call n'est percutant que s'il est préparé en amont. 3 minutes de diagnostic suffisent pour lever le barrage secrétariat :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1. Trouver le nom du Gérant (Pappers / Societe.com) : </a:t>
            </a:r>
            <a:r>
              <a:rPr b="0">
                <a:solidFill>
                  <a:srgbClr val="64748B"/>
                </a:solidFill>
              </a:rPr>
              <a:t>Ne demandez jamais 'le gérant' ou 'le responsable' au secrétariat, cela sonne immédiatement comme du démarchage. Demandez 'Christophe Martin' par exemple.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2. Contourner le barrage secrétariat : </a:t>
            </a:r>
            <a:r>
              <a:rPr b="0">
                <a:solidFill>
                  <a:srgbClr val="64748B"/>
                </a:solidFill>
              </a:rPr>
              <a:t>Si on vous demande le sujet de l'appel, ne dites pas 'partenariat' ou 'site internet'. Dites avec assurance : 'C'est au sujet d'un gainable' ou 'C'est par rapport à un dossier d'installation gainable sur [Ville]'. La secrétaire pensera à un client chaud.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3. Diagnostic technique rapide (Checklist) : </a:t>
            </a:r>
            <a:r>
              <a:rPr b="0">
                <a:solidFill>
                  <a:srgbClr val="64748B"/>
                </a:solidFill>
              </a:rPr>
              <a:t>Tapez 'site:monsitepro.com' sur Google pour voir son indexation. Si &lt; 10 pages, le site est invisible. Vérifiez sa note Google Maps et s'il pose des marques premium (Daikin, Mitsubishi).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PSYCHOLOGIE DE VENTE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Le Profiling Psychologique des Artisans du BTP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Chaque interlocuteur a des contraintes opérationnelles. Adaptez votre posture aux 3 profils types du secteur :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Profil 1 : L'Artisan sur le chantier (Le technicien pressé) : </a:t>
            </a:r>
            <a:r>
              <a:rPr b="0">
                <a:solidFill>
                  <a:srgbClr val="64748B"/>
                </a:solidFill>
              </a:rPr>
              <a:t>Il a du bruit, est fatigué, gère tout seul. Posture : Ultra-direct et jargon technique. 'Je fais court, je sais que vous êtes sur un chantier. Vous installez plutôt du Daikin ou du Mitsubishi pour le gainable ?'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Profil 2 : L'Artisan râleur et sceptique (Le déçu du web) : </a:t>
            </a:r>
            <a:r>
              <a:rPr b="0">
                <a:solidFill>
                  <a:srgbClr val="64748B"/>
                </a:solidFill>
              </a:rPr>
              <a:t>Il a déjà payé des sites inutiles ou s'est fait piéger par des engagements de 48 mois. Posture : Empathie radicale. 'Vous avez 100% raison de vous méfier du web. C'est pour ça qu'on fait un tarif fixe annuel, sans engagement abusif de 3 ans.'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Profil 3 : La PME CVC Structurée (Le dirigeant au bureau) : </a:t>
            </a:r>
            <a:r>
              <a:rPr b="0">
                <a:solidFill>
                  <a:srgbClr val="64748B"/>
                </a:solidFill>
              </a:rPr>
              <a:t>Il ne pose plus lui-même, gère des équipes. Il est sensible aux notions de ROI sémantique, de SEO et d'autorité. Posture : Professionnelle et axée sur les processus. 'Nous renforçons l'autorité sémantique locale de votre PME.'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SOCIAL SELLING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Prospection Multicanale : Dominer sur Instagram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Instagram est parfait pour toucher directement les artisans. Il n'y a aucun barrage secrétaire. Le gérant gère lui-même son compte.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La Story-Réaction technique : </a:t>
            </a:r>
            <a:r>
              <a:rPr b="0">
                <a:solidFill>
                  <a:srgbClr val="64748B"/>
                </a:solidFill>
              </a:rPr>
              <a:t>Réagissez à sa story montrant un plénum de gainable ou une clim en cours de pose. Posez une question de métier : 'Propre la pose ! C'est du bi-split Daikin ? Pas trop galère le passage des liaisons ?'. L'artisan adore parler de sa technique.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L'Audit visuel en DM : </a:t>
            </a:r>
            <a:r>
              <a:rPr b="0">
                <a:solidFill>
                  <a:srgbClr val="64748B"/>
                </a:solidFill>
              </a:rPr>
              <a:t>Complimentez ses photos puis pointez son invisibilité sur Google : 'Ton boulot est super propre. C'est dommage car quand je cherche clim gainable sur [Sa Ville], tu n'apparais pas. Les gros chantiers à 12k€ se signent sur Google, pas sur Insta. On a une demande exclusive sur ton secteur, dispo pour s'appeler 2 min ?'</a:t>
            </a:r>
          </a:p>
        </p:txBody>
      </p:sp>
      <p:pic>
        <p:nvPicPr>
          <p:cNvPr id="6" name="Picture 5" descr="espace_pro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1645920"/>
            <a:ext cx="47548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SOCIAL SELLING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Prospection Multicanale : Cibles PME sur LinkedIn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LinkedIn est idéal pour prospecter les patrons de PME CVC structurées (5 à 20 salariés) sensibles à la croissance et à l'acquisition B2B :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L'approche par l'Événement Déclencheur (Trigger) : </a:t>
            </a:r>
            <a:r>
              <a:rPr b="0">
                <a:solidFill>
                  <a:srgbClr val="64748B"/>
                </a:solidFill>
              </a:rPr>
              <a:t>Ciblez les dirigeants qui recrutent sur LinkedIn (ex: recherche frigoriste CVC). Script : 'Bonjour [Nom], j'ai vu que vous recrutiez un frigoriste sur [Ville], signe d'une belle croissance ! Dans le cadre du lancement de notre réseau gainable.fr, nous recherchons notre installateur partenaire exclusif sur votre secteur...'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L'approche d'Exclusivité Sectorielle : </a:t>
            </a:r>
            <a:r>
              <a:rPr b="0">
                <a:solidFill>
                  <a:srgbClr val="64748B"/>
                </a:solidFill>
              </a:rPr>
              <a:t>Script : 'Bonjour [Nom], nous finalisons le référencement exclusif des experts CVC sur [Ville]. Notre modèle est d'avoir un unique installateur par secteur géographique pour lui envoyer toutes nos demandes sans revente multiple. Vos avis et certifications témoignent de votre sérieux. Êtes-vous en mesure de prendre de nouveaux chantiers ?'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Invitation sans note : </a:t>
            </a:r>
            <a:r>
              <a:rPr b="0">
                <a:solidFill>
                  <a:srgbClr val="64748B"/>
                </a:solidFill>
              </a:rPr>
              <a:t>Envoyez des demandes de connexion sans note de message. Le taux d'acceptation est supérieur de 30% car cela ne ressemble pas à une sollicitation commerciale directe.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CADENCE DE PROSPECTION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Processus Commercial : La Séquence Mixte sur 5 jours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Un commercial performant suit un rythme hebdomadaire strict pour traiter 50 prospects qualifiés RGE par semaine :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Jour 1 (Mardi) - Le Premier Contact : </a:t>
            </a:r>
            <a:r>
              <a:rPr b="0">
                <a:solidFill>
                  <a:srgbClr val="64748B"/>
                </a:solidFill>
              </a:rPr>
              <a:t>Interaction sur les réseaux sociaux (likes, commentaire technique sur une photo de pose) + demande d'ajout + message d'exclusivité en DM.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Jour 2 (Mercredi) - Premier Appel : </a:t>
            </a:r>
            <a:r>
              <a:rPr b="0">
                <a:solidFill>
                  <a:srgbClr val="64748B"/>
                </a:solidFill>
              </a:rPr>
              <a:t>Appel direct par téléphone. Si barrage secrétaire : 'C'est au sujet d'un gainable'. Dès que le gérant répond, rebondir sur le DM envoyé la veille.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Jour 3 (Jeudi) - Relance écrite : </a:t>
            </a:r>
            <a:r>
              <a:rPr b="0">
                <a:solidFill>
                  <a:srgbClr val="64748B"/>
                </a:solidFill>
              </a:rPr>
              <a:t>Message de suivi court sur LinkedIn, Instagram ou WhatsApp : 'Bonjour Christophe, je vous ai laissé un message hier. Je voulais valider votre intérêt pour l'exclusivité du secteur de [Ville] avant de libérer la zone.'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Jour 4 (Vendredi) - Deuxième Appel / Close : </a:t>
            </a:r>
            <a:r>
              <a:rPr b="0">
                <a:solidFill>
                  <a:srgbClr val="64748B"/>
                </a:solidFill>
              </a:rPr>
              <a:t>Deuxième relance téléphonique pour planifier la démo de 5 minutes ou clore directement en ligne.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Jour 5 (Lundi suivant) - Retrait / Urgence : </a:t>
            </a:r>
            <a:r>
              <a:rPr b="0">
                <a:solidFill>
                  <a:srgbClr val="64748B"/>
                </a:solidFill>
              </a:rPr>
              <a:t>Message final de désengagement pour créer de l'urgence : 'Bonjour [Nom], sans retour de votre part, je libère la zone de [Ville] pour vos confrères. Excellente continuation.'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CONVERSION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La Démo d'Impact de 5 min &amp; Le Closing Stripe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50">
                <a:solidFill>
                  <a:srgbClr val="1F2D3D"/>
                </a:solidFill>
              </a:defRPr>
            </a:pPr>
            <a:r>
              <a:t>La démo doit être visuelle et percutante. Montrez la valeur, pas seulement la théorie.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1. L'effet Wow de l'IA (2 min) : </a:t>
            </a:r>
            <a:r>
              <a:rPr b="0">
                <a:solidFill>
                  <a:srgbClr val="64748B"/>
                </a:solidFill>
              </a:rPr>
              <a:t>Demandez à l'artisan son dernier chantier. Tapez le titre en direct dans l'assistant IA ('Pose gainable Daikin à Nice') et laissez l'IA générer l'article technique de 500 mots sous ses yeux en 30s.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2. Preuve d'exclusivité (1 min) : </a:t>
            </a:r>
            <a:r>
              <a:rPr b="0">
                <a:solidFill>
                  <a:srgbClr val="64748B"/>
                </a:solidFill>
              </a:rPr>
              <a:t>Montrez-lui la carte de son secteur. Expliquez que dès qu'il valide, aucun concurrent ne pourra être référencé sur son département.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3. Closing &amp; Stripe (2 min) : </a:t>
            </a:r>
            <a:r>
              <a:rPr b="0">
                <a:solidFill>
                  <a:srgbClr val="64748B"/>
                </a:solidFill>
              </a:rPr>
              <a:t>Envoyez le lien de souscription Stripe en ligne. Restez en ligne avec lui pour le guider. Si hésitation : 'Si on sécurise votre zone aujourd'hui, je vous applique le code EXCLU10 de 10% de remise immédiate (765 € HT/an au lieu de 850 €).' Le code promo Stripe est l'accélérateur de décision.</a:t>
            </a:r>
          </a:p>
        </p:txBody>
      </p:sp>
      <p:pic>
        <p:nvPicPr>
          <p:cNvPr id="6" name="Picture 5" descr="sales_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1645920"/>
            <a:ext cx="47548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59B2B"/>
                </a:solidFill>
                <a:latin typeface="Arial"/>
              </a:defRPr>
            </a:pPr>
            <a:r>
              <a:t>TRAITEMENT DES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D3D"/>
                </a:solidFill>
                <a:latin typeface="Arial"/>
              </a:defRPr>
            </a:pPr>
            <a:r>
              <a:t>Traitement des objections 'inimaginables'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50">
                <a:solidFill>
                  <a:srgbClr val="1F2D3D"/>
                </a:solidFill>
              </a:defRPr>
            </a:pPr>
            <a:r>
              <a:t>Savoir désarmer les doutes les plus coriaces en ramenant toujours le pro à la réalité de son business :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'Je fonctionne au bouche-à-oreille' : </a:t>
            </a:r>
            <a:r>
              <a:rPr b="0">
                <a:solidFill>
                  <a:srgbClr val="64748B"/>
                </a:solidFill>
              </a:rPr>
              <a:t>'C'est génial, c'est la preuve de votre sérieux. Mais aujourd'hui, 9 clients sur 10 recommandés par un ami tapent votre nom sur Google pour se rassurer. S'ils ne voient rien de récent, ils doutent. On digitalise votre bouche-à-oreille.'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'J'ai déjà mon propre site vitrine' : </a:t>
            </a:r>
            <a:r>
              <a:rPr b="0">
                <a:solidFill>
                  <a:srgbClr val="64748B"/>
                </a:solidFill>
              </a:rPr>
              <a:t>'C'est très bien. Mais si on tape site:votresite.com sur Google, on voit qu'il n'y a que 4 pages. Face aux géants nationaux, un petit site individuel est invisible. En publiant chez nous, vous profitez de l'autorité globale de Gainable.fr (58k pages).' 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'J'achète des leads chez Travaux.com / Effy' : </a:t>
            </a:r>
            <a:r>
              <a:rPr b="0">
                <a:solidFill>
                  <a:srgbClr val="64748B"/>
                </a:solidFill>
              </a:rPr>
              <a:t>'Vous connaissez le stress de devoir appeler le client en 3 minutes avant les 4 autres concurrents pour brader vos marges. Chez nous, c'est l'exclusivité absolue : le client vous contacte vous et vous seul. Et c'est sans commission.'</a:t>
            </a:r>
          </a:p>
          <a:p>
            <a:pPr>
              <a:spcAft>
                <a:spcPts val="600"/>
              </a:spcAft>
              <a:defRPr sz="1200">
                <a:latin typeface="Arial"/>
              </a:defRPr>
            </a:pPr>
            <a:r>
              <a:rPr b="1">
                <a:solidFill>
                  <a:srgbClr val="1F2D3D"/>
                </a:solidFill>
              </a:rPr>
              <a:t>• 'Le tarif de 850 € HT par an est trop cher' : </a:t>
            </a:r>
            <a:r>
              <a:rPr b="0">
                <a:solidFill>
                  <a:srgbClr val="64748B"/>
                </a:solidFill>
              </a:rPr>
              <a:t>'Combien vous rapporte une seule pose de gainable en moyenne ? Entre 8k€ et 15k€ avec une belle marge. Il vous suffit de signer un seul chantier grâce à Gainable.fr pour rentabiliser votre adhésion pour les 10 prochaines années.'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Plan d'Attaque : La Routine du Succès</a:t>
            </a:r>
          </a:p>
          <a:p>
            <a:pPr>
              <a:spcAft>
                <a:spcPts val="600"/>
              </a:spcAft>
              <a:defRPr sz="125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1. CIBLEZ : </a:t>
            </a:r>
            <a:r>
              <a:rPr b="0">
                <a:solidFill>
                  <a:srgbClr val="64748B"/>
                </a:solidFill>
              </a:rPr>
              <a:t>Trouvez 50 prospects CVC RGE sans partenaire exclusif sur leur département.</a:t>
            </a:r>
          </a:p>
          <a:p>
            <a:pPr>
              <a:spcAft>
                <a:spcPts val="600"/>
              </a:spcAft>
              <a:defRPr sz="125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2. DIAGNOSTIQUEZ : </a:t>
            </a:r>
            <a:r>
              <a:rPr b="0">
                <a:solidFill>
                  <a:srgbClr val="64748B"/>
                </a:solidFill>
              </a:rPr>
              <a:t>Faites le check site:nomdedomaine.com, note Google Maps, et marques posées.</a:t>
            </a:r>
          </a:p>
          <a:p>
            <a:pPr>
              <a:spcAft>
                <a:spcPts val="600"/>
              </a:spcAft>
              <a:defRPr sz="125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3. CONTACTEZ : </a:t>
            </a:r>
            <a:r>
              <a:rPr b="0">
                <a:solidFill>
                  <a:srgbClr val="64748B"/>
                </a:solidFill>
              </a:rPr>
              <a:t>Utilisez LinkedIn et Instagram (story-réaction technique) + Phoning (sujet d'un gainable).</a:t>
            </a:r>
          </a:p>
          <a:p>
            <a:pPr>
              <a:spcAft>
                <a:spcPts val="600"/>
              </a:spcAft>
              <a:defRPr sz="125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4. DÉMONTREZ : </a:t>
            </a:r>
            <a:r>
              <a:rPr b="0">
                <a:solidFill>
                  <a:srgbClr val="64748B"/>
                </a:solidFill>
              </a:rPr>
              <a:t>Faites la démo de 5 min en direct avec l'effet Wow de l'écriture IA.</a:t>
            </a:r>
          </a:p>
          <a:p>
            <a:pPr>
              <a:spcAft>
                <a:spcPts val="600"/>
              </a:spcAft>
              <a:defRPr sz="125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5. CLOSEZ : </a:t>
            </a:r>
            <a:r>
              <a:rPr b="0">
                <a:solidFill>
                  <a:srgbClr val="64748B"/>
                </a:solidFill>
              </a:rPr>
              <a:t>Envoyez le lien de paiement Stripe avec le code promo de 10% pour acter la signature.</a:t>
            </a:r>
          </a:p>
        </p:txBody>
      </p:sp>
      <p:pic>
        <p:nvPicPr>
          <p:cNvPr id="3" name="Picture 2" descr="label-gainable-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