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4400" b="1">
                <a:solidFill>
                  <a:srgbClr val="FFFFFF"/>
                </a:solidFill>
                <a:latin typeface="Arial"/>
              </a:defRPr>
            </a:pPr>
            <a:r>
              <a:t>Gainable.fr</a:t>
            </a:r>
          </a:p>
          <a:p>
            <a:pPr>
              <a:spcAft>
                <a:spcPts val="2000"/>
              </a:spcAft>
              <a:defRPr sz="2200" b="1">
                <a:solidFill>
                  <a:srgbClr val="D59B2B"/>
                </a:solidFill>
                <a:latin typeface="Arial"/>
              </a:defRPr>
            </a:pPr>
            <a:r>
              <a:t>Plateforme de Visibilité &amp; d'Acquisition Locale</a:t>
            </a:r>
          </a:p>
          <a:p>
            <a:pPr>
              <a:spcAft>
                <a:spcPts val="20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Développez votre clientèle CVC, Diagnostics &amp; Bureaux d'Études.</a:t>
            </a:r>
            <a:br/>
            <a:r>
              <a:t>Générez des contacts qualifiés en direct, 100% sans commission.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Présentation Commerciale &amp; Guide Pratique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2377440" cy="713232"/>
          </a:xfrm>
          <a:prstGeom prst="rect">
            <a:avLst/>
          </a:prstGeom>
        </p:spPr>
      </p:pic>
      <p:pic>
        <p:nvPicPr>
          <p:cNvPr id="4" name="Picture 3" descr="hero-hv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295" y="0"/>
            <a:ext cx="54864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59B2B"/>
                </a:solidFill>
                <a:latin typeface="Arial"/>
              </a:defRPr>
            </a:pPr>
            <a:r>
              <a:t>ACQUISITION CLIENTS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D3D"/>
                </a:solidFill>
                <a:latin typeface="Arial"/>
              </a:defRPr>
            </a:pPr>
            <a:r>
              <a:t>Pourquoi Gainable.fr ? Dominer sa zone à l'ère numérique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400" b="1">
                <a:solidFill>
                  <a:srgbClr val="1F2D3D"/>
                </a:solidFill>
                <a:latin typeface="Arial"/>
              </a:defRPr>
            </a:pPr>
            <a:r>
              <a:t>Le bouche-à-oreille et les réseaux sociaux sont insuffisants. Face à la concurrence, un référencement Google et IA de premier ordre est devenu primordial.</a:t>
            </a:r>
          </a:p>
          <a:p>
            <a:pPr>
              <a:spcAft>
                <a:spcPts val="1200"/>
              </a:spcAft>
              <a:defRPr sz="125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• Transition Numérique &amp; IA : </a:t>
            </a:r>
            <a:r>
              <a:rPr b="0">
                <a:solidFill>
                  <a:srgbClr val="64748B"/>
                </a:solidFill>
              </a:rPr>
              <a:t>Les comportements d'achat ont changé. Le bouche-à-oreille ne représente qu'une infime partie du marché. Être présent sur Google et optimisé pour les moteurs de recherche IA est capital.</a:t>
            </a:r>
          </a:p>
          <a:p>
            <a:pPr>
              <a:spcAft>
                <a:spcPts val="1200"/>
              </a:spcAft>
              <a:defRPr sz="125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• Soyez le référent de votre secteur : </a:t>
            </a:r>
            <a:r>
              <a:rPr b="0">
                <a:solidFill>
                  <a:srgbClr val="64748B"/>
                </a:solidFill>
              </a:rPr>
              <a:t>Gainable.fr vous fournit l'outil ultime. En publiant régulièrement des articles et en ajoutant des photos de vos chantiers, votre implication et sérieux propulsent votre visibilité locale.</a:t>
            </a:r>
          </a:p>
          <a:p>
            <a:pPr>
              <a:spcAft>
                <a:spcPts val="1200"/>
              </a:spcAft>
              <a:defRPr sz="125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• Zéro commission &amp; Solvabilité validée : </a:t>
            </a:r>
            <a:r>
              <a:rPr b="0">
                <a:solidFill>
                  <a:srgbClr val="64748B"/>
                </a:solidFill>
              </a:rPr>
              <a:t>Conservez 100% de la valeur de vos chantiers. Lors de l'inscription, une vérification administrative et de solvabilité financière est effectuée via l'API Inessence pour valoriser les vrais professionnels.</a:t>
            </a:r>
          </a:p>
        </p:txBody>
      </p:sp>
      <p:pic>
        <p:nvPicPr>
          <p:cNvPr id="6" name="Picture 5" descr="seo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50292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59B2B"/>
                </a:solidFill>
                <a:latin typeface="Arial"/>
              </a:defRPr>
            </a:pPr>
            <a:r>
              <a:t>ACQUISITION CLIENTS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D3D"/>
                </a:solidFill>
                <a:latin typeface="Arial"/>
              </a:defRPr>
            </a:pPr>
            <a:r>
              <a:t>Le Moteur de Recherche &amp; Contact Client Direct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b="1" sz="1500">
                <a:solidFill>
                  <a:srgbClr val="1F2D3D"/>
                </a:solidFill>
              </a:defRPr>
            </a:pPr>
            <a:r>
              <a:t>Un ciblage technique précis pour capter des leads qualifiés</a:t>
            </a:r>
          </a:p>
          <a:p>
            <a:pPr>
              <a:spcAft>
                <a:spcPts val="1200"/>
              </a:spcAft>
              <a:defRPr sz="125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• Filtres Techniques Précis : </a:t>
            </a:r>
            <a:r>
              <a:rPr b="0">
                <a:solidFill>
                  <a:srgbClr val="64748B"/>
                </a:solidFill>
              </a:rPr>
              <a:t>Les clients qualifient leur projet par technologie (split, cassette, gainable, VRV...), type d'habitation (maison, appartement...) et par diagnostics (DPE, amiante...), puis filtrent par ville.</a:t>
            </a:r>
          </a:p>
          <a:p>
            <a:pPr>
              <a:spcAft>
                <a:spcPts val="1200"/>
              </a:spcAft>
              <a:defRPr sz="125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• Contact à chaud par téléphone : </a:t>
            </a:r>
            <a:r>
              <a:rPr b="0">
                <a:solidFill>
                  <a:srgbClr val="64748B"/>
                </a:solidFill>
              </a:rPr>
              <a:t>Permettez aux clients d'accéder directement à vos coordonnées téléphoniques sur votre fiche pour un contact immédiat. Possibilité également de faire des demandes multiples.</a:t>
            </a:r>
          </a:p>
          <a:p>
            <a:pPr>
              <a:spcAft>
                <a:spcPts val="1200"/>
              </a:spcAft>
              <a:defRPr sz="125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• Label Qualité Certifié Expert Gainable : </a:t>
            </a:r>
            <a:r>
              <a:rPr b="0">
                <a:solidFill>
                  <a:srgbClr val="64748B"/>
                </a:solidFill>
              </a:rPr>
              <a:t>Chaque professionnel sérieux est valorisé par notre badge de certification officiel, renforçant immédiatement la confiance avec le client final.</a:t>
            </a:r>
          </a:p>
        </p:txBody>
      </p:sp>
      <p:pic>
        <p:nvPicPr>
          <p:cNvPr id="6" name="Picture 5" descr="diag-insp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206240"/>
            <a:ext cx="2926080" cy="2103120"/>
          </a:xfrm>
          <a:prstGeom prst="rect">
            <a:avLst/>
          </a:prstGeom>
        </p:spPr>
      </p:pic>
      <p:pic>
        <p:nvPicPr>
          <p:cNvPr id="7" name="Picture 6" descr="user_scr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5920"/>
            <a:ext cx="5029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59B2B"/>
                </a:solidFill>
                <a:latin typeface="Arial"/>
              </a:defRPr>
            </a:pPr>
            <a:r>
              <a:t>ÉTUDE DE CAS : AIR G ENERGIE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D3D"/>
                </a:solidFill>
                <a:latin typeface="Arial"/>
              </a:defRPr>
            </a:pPr>
            <a:r>
              <a:t>L'Espace Pro : Pilotez votre Visibilité &amp; Vos Leads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b="1" sz="1500">
                <a:solidFill>
                  <a:srgbClr val="1F2D3D"/>
                </a:solidFill>
              </a:defRPr>
            </a:pPr>
            <a:r>
              <a:t>Gérez vos informations et réceptionnez vos demandes en direct</a:t>
            </a:r>
          </a:p>
          <a:p>
            <a:pPr>
              <a:spcAft>
                <a:spcPts val="1200"/>
              </a:spcAft>
              <a:defRPr sz="125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• Fiche Public Référencée : </a:t>
            </a:r>
            <a:r>
              <a:rPr b="0">
                <a:solidFill>
                  <a:srgbClr val="64748B"/>
                </a:solidFill>
              </a:rPr>
              <a:t>Éditez votre description, vos certifications (RGE...), vos marques partenaires, et vos coordonnées de contact direct.</a:t>
            </a:r>
          </a:p>
          <a:p>
            <a:pPr>
              <a:spcAft>
                <a:spcPts val="1200"/>
              </a:spcAft>
              <a:defRPr sz="125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• Gestionnaire de Leads : </a:t>
            </a:r>
            <a:r>
              <a:rPr b="0">
                <a:solidFill>
                  <a:srgbClr val="64748B"/>
                </a:solidFill>
              </a:rPr>
              <a:t>Recevez les fiches chantiers qualifiées. Visualisez l'historique complet et contactez directement les clients.</a:t>
            </a:r>
          </a:p>
          <a:p>
            <a:pPr>
              <a:spcAft>
                <a:spcPts val="1200"/>
              </a:spcAft>
              <a:defRPr sz="125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• Facturation &amp; Médias : </a:t>
            </a:r>
            <a:r>
              <a:rPr b="0">
                <a:solidFill>
                  <a:srgbClr val="64748B"/>
                </a:solidFill>
              </a:rPr>
              <a:t>Ajoutez vos photos de chantiers pour enrichir votre portfolio et gérez vos abonnements Stripe de manière transparente.</a:t>
            </a:r>
          </a:p>
        </p:txBody>
      </p:sp>
      <p:pic>
        <p:nvPicPr>
          <p:cNvPr id="6" name="Picture 5" descr="espace_pro_vision_17651408417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206240"/>
            <a:ext cx="2926080" cy="2103120"/>
          </a:xfrm>
          <a:prstGeom prst="rect">
            <a:avLst/>
          </a:prstGeom>
        </p:spPr>
      </p:pic>
      <p:pic>
        <p:nvPicPr>
          <p:cNvPr id="7" name="Picture 6" descr="user_scr_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5920"/>
            <a:ext cx="5029200" cy="4389120"/>
          </a:xfrm>
          <a:prstGeom prst="rect">
            <a:avLst/>
          </a:prstGeom>
        </p:spPr>
      </p:pic>
      <p:pic>
        <p:nvPicPr>
          <p:cNvPr id="8" name="Picture 7" descr="user_scr_profile_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2011680"/>
            <a:ext cx="22860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59B2B"/>
                </a:solidFill>
                <a:latin typeface="Arial"/>
              </a:defRPr>
            </a:pPr>
            <a:r>
              <a:t>CONTENU SÉMANTIQUE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D3D"/>
                </a:solidFill>
                <a:latin typeface="Arial"/>
              </a:defRPr>
            </a:pPr>
            <a:r>
              <a:t>La Rédaction d'Articles SEO : Dominez votre Secteur Local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b="1" sz="1500">
                <a:solidFill>
                  <a:srgbClr val="1F2D3D"/>
                </a:solidFill>
              </a:defRPr>
            </a:pPr>
            <a:r>
              <a:t>Associez votre expertise à des requêtes géolocalisées</a:t>
            </a:r>
          </a:p>
          <a:p>
            <a:pPr>
              <a:spcAft>
                <a:spcPts val="1200"/>
              </a:spcAft>
              <a:defRPr sz="125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• Référencement local ultra-ciblé : </a:t>
            </a:r>
            <a:r>
              <a:rPr b="0">
                <a:solidFill>
                  <a:srgbClr val="64748B"/>
                </a:solidFill>
              </a:rPr>
              <a:t>Rédigez des articles géolocalisés (ex: 'Pose de climatiseur gainable à Miramas') pour apparaître directement devant les internautes de votre secteur.</a:t>
            </a:r>
          </a:p>
          <a:p>
            <a:pPr>
              <a:spcAft>
                <a:spcPts val="1200"/>
              </a:spcAft>
              <a:defRPr sz="125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• Quota Mensuel &amp; Agent IA Expert SEO : </a:t>
            </a:r>
            <a:r>
              <a:rPr b="0">
                <a:solidFill>
                  <a:srgbClr val="64748B"/>
                </a:solidFill>
              </a:rPr>
              <a:t>Chaque expert dispose d'un quota de 10 articles mensuels. Notre Assistant IA Expert SEO, orienté technique et génie climatique, vous aide à générer vos contenus de haute qualité en quelques minutes.</a:t>
            </a:r>
          </a:p>
          <a:p>
            <a:pPr>
              <a:spcAft>
                <a:spcPts val="1200"/>
              </a:spcAft>
              <a:defRPr sz="125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• Outils Premium d'Édition : </a:t>
            </a:r>
            <a:r>
              <a:rPr b="0">
                <a:solidFill>
                  <a:srgbClr val="64748B"/>
                </a:solidFill>
              </a:rPr>
              <a:t>Intégrez des images avec balises alt obligatoires pour Google, configurez des FAQ structurées en JSON pour avoir des Rich Snippets, et incorporez des vidéos explicatives.</a:t>
            </a:r>
          </a:p>
        </p:txBody>
      </p:sp>
      <p:pic>
        <p:nvPicPr>
          <p:cNvPr id="6" name="Picture 5" descr="user_scr_artic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59B2B"/>
                </a:solidFill>
                <a:latin typeface="Arial"/>
              </a:defRPr>
            </a:pPr>
            <a:r>
              <a:t>GOOGLE SEARCH CONSOLE &amp;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D3D"/>
                </a:solidFill>
                <a:latin typeface="Arial"/>
              </a:defRPr>
            </a:pPr>
            <a:r>
              <a:t>Suivi de Performance &amp; Comparateur de Concurrence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b="1" sz="1500">
                <a:solidFill>
                  <a:srgbClr val="1F2D3D"/>
                </a:solidFill>
              </a:defRPr>
            </a:pPr>
            <a:r>
              <a:t>L'analyse scientifique de vos performances SEO</a:t>
            </a:r>
          </a:p>
          <a:p>
            <a:pPr>
              <a:spcAft>
                <a:spcPts val="1200"/>
              </a:spcAft>
              <a:defRPr sz="125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• Graphique GSC natif : </a:t>
            </a:r>
            <a:r>
              <a:rPr b="0">
                <a:solidFill>
                  <a:srgbClr val="64748B"/>
                </a:solidFill>
              </a:rPr>
              <a:t>Visualisez vos impressions, vos clics totaux, votre taux de clic (CTR moyen) et la position moyenne de vos mots-clés directement dans votre Espace Pro.</a:t>
            </a:r>
          </a:p>
          <a:p>
            <a:pPr>
              <a:spcAft>
                <a:spcPts val="1200"/>
              </a:spcAft>
              <a:defRPr sz="125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• Diagnostic &amp; Score de votre Site : </a:t>
            </a:r>
            <a:r>
              <a:rPr b="0">
                <a:solidFill>
                  <a:srgbClr val="64748B"/>
                </a:solidFill>
              </a:rPr>
              <a:t>Obtenez un score sur 100 mesurant la conformité technique de votre site web personnel (sécurité HSTS, Content Security Policy, en-têtes...).</a:t>
            </a:r>
          </a:p>
          <a:p>
            <a:pPr>
              <a:spcAft>
                <a:spcPts val="1200"/>
              </a:spcAft>
              <a:defRPr sz="125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• Comparateur face aux leaders nationaux : </a:t>
            </a:r>
            <a:r>
              <a:rPr b="0">
                <a:solidFill>
                  <a:srgbClr val="64748B"/>
                </a:solidFill>
              </a:rPr>
              <a:t>Suivez en temps réel comment votre page Gainable.fr se positionne face aux géants (Maclem, IZI EDF, Engie...) et profitez de l'autorité globale de la plateforme.</a:t>
            </a:r>
          </a:p>
        </p:txBody>
      </p:sp>
      <p:pic>
        <p:nvPicPr>
          <p:cNvPr id="6" name="Picture 5" descr="user_scr_s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029200" cy="4389120"/>
          </a:xfrm>
          <a:prstGeom prst="rect">
            <a:avLst/>
          </a:prstGeom>
        </p:spPr>
      </p:pic>
      <p:pic>
        <p:nvPicPr>
          <p:cNvPr id="7" name="Picture 6" descr="seo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926080"/>
            <a:ext cx="292608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59B2B"/>
                </a:solidFill>
                <a:latin typeface="Arial"/>
              </a:defRPr>
            </a:pPr>
            <a:r>
              <a:t>LABELLISATION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D3D"/>
                </a:solidFill>
                <a:latin typeface="Arial"/>
              </a:defRPr>
            </a:pPr>
            <a:r>
              <a:t>Le Label Gainable.fr : Gage de Confiance &amp; Transparence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b="1" sz="1500">
                <a:solidFill>
                  <a:srgbClr val="1F2D3D"/>
                </a:solidFill>
              </a:defRPr>
            </a:pPr>
            <a:r>
              <a:t>Valorisez votre savoir-faire auprès de vos futurs clients</a:t>
            </a:r>
          </a:p>
          <a:p>
            <a:pPr>
              <a:spcAft>
                <a:spcPts val="1200"/>
              </a:spcAft>
              <a:defRPr sz="125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• Transparence &amp; Confiance : </a:t>
            </a:r>
            <a:r>
              <a:rPr b="0">
                <a:solidFill>
                  <a:srgbClr val="64748B"/>
                </a:solidFill>
              </a:rPr>
              <a:t>Gainable.fr valorise les professionnels sérieux et garantit aux particuliers une recherche simple, rapide et fiable.</a:t>
            </a:r>
          </a:p>
          <a:p>
            <a:pPr>
              <a:spcAft>
                <a:spcPts val="1200"/>
              </a:spcAft>
              <a:defRPr sz="125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• Badge "Expert Vérifié" visible : </a:t>
            </a:r>
            <a:r>
              <a:rPr b="0">
                <a:solidFill>
                  <a:srgbClr val="64748B"/>
                </a:solidFill>
              </a:rPr>
              <a:t>Ce label, gage de qualité, s'affiche directement sur votre profil public pour maximiser la conversion de vos prospects en clients.</a:t>
            </a:r>
          </a:p>
          <a:p>
            <a:pPr>
              <a:spcAft>
                <a:spcPts val="1200"/>
              </a:spcAft>
              <a:defRPr sz="125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• Critères de Labellisation stricts : </a:t>
            </a:r>
            <a:r>
              <a:rPr b="0">
                <a:solidFill>
                  <a:srgbClr val="64748B"/>
                </a:solidFill>
              </a:rPr>
              <a:t>Vérification des informations administratives, contrôle des marques et certifications, validation de la zone géographique et analyse de solvabilité via API Inessence.</a:t>
            </a:r>
          </a:p>
        </p:txBody>
      </p:sp>
      <p:pic>
        <p:nvPicPr>
          <p:cNvPr id="6" name="Picture 5" descr="user_scr_lab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59B2B"/>
                </a:solidFill>
                <a:latin typeface="Arial"/>
              </a:defRPr>
            </a:pPr>
            <a:r>
              <a:t>FORMULES ET OFFRES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D3D"/>
                </a:solidFill>
                <a:latin typeface="Arial"/>
              </a:defRPr>
            </a:pPr>
            <a:r>
              <a:t>Tarifs Transparents &amp; Formules d'Adhésion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b="1" sz="1500">
                <a:solidFill>
                  <a:srgbClr val="1F2D3D"/>
                </a:solidFill>
              </a:defRPr>
            </a:pPr>
            <a:r>
              <a:t>Des offres adaptées à votre profil de professionnel</a:t>
            </a:r>
          </a:p>
          <a:p>
            <a:pPr>
              <a:spcAft>
                <a:spcPts val="1200"/>
              </a:spcAft>
              <a:defRPr sz="125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• Société Expert CVC : </a:t>
            </a:r>
            <a:r>
              <a:rPr b="0">
                <a:solidFill>
                  <a:srgbClr val="64748B"/>
                </a:solidFill>
              </a:rPr>
              <a:t>850 € HT par an (Tarif de lancement au lieu de 1200 € HT). Conçu spécifiquement pour les installateurs de climatisation, clim réversible et PAC.</a:t>
            </a:r>
          </a:p>
          <a:p>
            <a:pPr>
              <a:spcAft>
                <a:spcPts val="1200"/>
              </a:spcAft>
              <a:defRPr sz="125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• Diagnostiqueur Immobilier : </a:t>
            </a:r>
            <a:r>
              <a:rPr b="0">
                <a:solidFill>
                  <a:srgbClr val="64748B"/>
                </a:solidFill>
              </a:rPr>
              <a:t>750 € HT par an (Tarif de lancement au lieu de 1100 € HT). Pour les experts en diagnostics DPE, amiante, etc.</a:t>
            </a:r>
          </a:p>
          <a:p>
            <a:pPr>
              <a:spcAft>
                <a:spcPts val="1200"/>
              </a:spcAft>
              <a:defRPr sz="125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• Bureau d'Étude Thermique : </a:t>
            </a:r>
            <a:r>
              <a:rPr b="0">
                <a:solidFill>
                  <a:srgbClr val="64748B"/>
                </a:solidFill>
              </a:rPr>
              <a:t>Gratuit pour les experts en thermique (ciblage RE2020, codes APE BE dédiés).</a:t>
            </a:r>
          </a:p>
          <a:p>
            <a:pPr>
              <a:spcAft>
                <a:spcPts val="1200"/>
              </a:spcAft>
              <a:defRPr sz="125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• Toutes fonctionnalités incluses : </a:t>
            </a:r>
            <a:r>
              <a:rPr b="0">
                <a:solidFill>
                  <a:srgbClr val="64748B"/>
                </a:solidFill>
              </a:rPr>
              <a:t>0% de commission sur vos contacts, leads et demandes illimités, quota de 10 articles SEO rédigés par mois, assistant IA, et badge de labellisation.</a:t>
            </a:r>
          </a:p>
        </p:txBody>
      </p:sp>
      <p:pic>
        <p:nvPicPr>
          <p:cNvPr id="6" name="Picture 5" descr="user_scr_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59B2B"/>
                </a:solidFill>
                <a:latin typeface="Arial"/>
              </a:defRPr>
            </a:pPr>
            <a:r>
              <a:t>POSITIONNEMENT CONCURRENTIEL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D3D"/>
                </a:solidFill>
                <a:latin typeface="Arial"/>
              </a:defRPr>
            </a:pPr>
            <a:r>
              <a:t>Comparatif des Plateformes Concurrentes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89888"/>
            <a:ext cx="11521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i="1">
                <a:solidFill>
                  <a:srgbClr val="64748B"/>
                </a:solidFill>
                <a:latin typeface="Arial"/>
              </a:defRPr>
            </a:pPr>
            <a:r>
              <a:t>Gainable.fr face aux principales plateformes du marché CVC, Diagnostics &amp; Bâtiment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01168" y="1719072"/>
          <a:ext cx="11777472" cy="4956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2697480"/>
                <a:gridCol w="1600200"/>
                <a:gridCol w="1325880"/>
                <a:gridCol w="1325880"/>
                <a:gridCol w="1325880"/>
                <a:gridCol w="1261872"/>
              </a:tblGrid>
              <a:tr h="475488"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Plateforme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Modèle économique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Coût estimatif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Leads</a:t>
                      </a:r>
                      <a:br/>
                      <a:r>
                        <a:t>exclusifs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Commission</a:t>
                      </a:r>
                      <a:br/>
                      <a:r>
                        <a:t>chantier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SEO</a:t>
                      </a:r>
                      <a:br/>
                      <a:r>
                        <a:t>intégré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IA</a:t>
                      </a:r>
                      <a:br/>
                      <a:r>
                        <a:t>incluse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065F46"/>
                          </a:solidFill>
                          <a:latin typeface="Arial"/>
                        </a:defRPr>
                      </a:pPr>
                      <a:r>
                        <a:t>⭐ Gainable.fr</a:t>
                      </a:r>
                    </a:p>
                    <a:p>
                      <a:pPr algn="l">
                        <a:defRPr sz="950" b="1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gainable.fr | .be | .ch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065F46"/>
                          </a:solidFill>
                          <a:latin typeface="Arial"/>
                        </a:defRPr>
                      </a:pPr>
                      <a:r>
                        <a:t>Annuaire spécialisé CVC &amp; Diag</a:t>
                      </a:r>
                    </a:p>
                    <a:p>
                      <a:pPr algn="l">
                        <a:defRPr sz="950" b="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+ Articles SEO + Assistant IA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065F46"/>
                          </a:solidFill>
                          <a:latin typeface="Arial"/>
                        </a:defRPr>
                      </a:pPr>
                      <a:r>
                        <a:t>850 € HT/an (CVC)</a:t>
                      </a:r>
                    </a:p>
                    <a:p>
                      <a:pPr algn="ctr">
                        <a:defRPr sz="950" b="1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750 € HT/an (Diag) · 0€ BE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✔ OUI</a:t>
                      </a:r>
                    </a:p>
                    <a:p>
                      <a:pPr algn="ctr">
                        <a:defRPr sz="950" b="1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Contact direct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065F46"/>
                          </a:solidFill>
                          <a:latin typeface="Arial"/>
                        </a:defRPr>
                      </a:pPr>
                      <a:r>
                        <a:t>0 %</a:t>
                      </a:r>
                    </a:p>
                    <a:p>
                      <a:pPr algn="ctr">
                        <a:defRPr sz="950" b="1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Aucune commission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✔ OUI</a:t>
                      </a:r>
                    </a:p>
                    <a:p>
                      <a:pPr algn="ctr">
                        <a:defRPr sz="950" b="1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Articles + IA + Rich Snippets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✔ OUI</a:t>
                      </a:r>
                    </a:p>
                    <a:p>
                      <a:pPr algn="ctr">
                        <a:defRPr sz="950" b="1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Assistant rédacteur intégré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1F2D3D"/>
                          </a:solidFill>
                          <a:latin typeface="Arial"/>
                        </a:defRPr>
                      </a:pPr>
                      <a:r>
                        <a:t>Habitapresto</a:t>
                      </a:r>
                    </a:p>
                    <a:p>
                      <a:pPr algn="l">
                        <a:defRPr sz="850" b="1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Travaux.com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1F2D3D"/>
                          </a:solidFill>
                          <a:latin typeface="Arial"/>
                        </a:defRPr>
                      </a:pPr>
                      <a:r>
                        <a:t>Marketplace de leads</a:t>
                      </a:r>
                    </a:p>
                    <a:p>
                      <a:pPr algn="l">
                        <a:defRPr sz="850" b="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Revendu ×3 à 5 concurrents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F2D3D"/>
                          </a:solidFill>
                          <a:latin typeface="Arial"/>
                        </a:defRPr>
                      </a:pPr>
                      <a:r>
                        <a:t>20–80 € HT / lead</a:t>
                      </a:r>
                    </a:p>
                    <a:p>
                      <a:pPr algn="ctr">
                        <a:defRPr sz="850" b="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Facturation par contact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✘ NON</a:t>
                      </a:r>
                    </a:p>
                    <a:p>
                      <a:pPr algn="ctr">
                        <a:defRPr sz="850" b="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Partagés (multi-pros)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F2D3D"/>
                          </a:solidFill>
                          <a:latin typeface="Arial"/>
                        </a:defRPr>
                      </a:pPr>
                      <a:r>
                        <a:t>0 %</a:t>
                      </a:r>
                    </a:p>
                    <a:p>
                      <a:pPr algn="ctr">
                        <a:defRPr sz="850" b="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(achat au lead)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✘ NON</a:t>
                      </a:r>
                    </a:p>
                    <a:p>
                      <a:pPr algn="ctr">
                        <a:defRPr sz="850" b="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Pas d'outillage SEO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✘ NON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1F2D3D"/>
                          </a:solidFill>
                          <a:latin typeface="Arial"/>
                        </a:defRPr>
                      </a:pPr>
                      <a:r>
                        <a:t>Maclem</a:t>
                      </a:r>
                    </a:p>
                    <a:p>
                      <a:pPr algn="l">
                        <a:defRPr sz="850" b="1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Plateforme CVC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1F2D3D"/>
                          </a:solidFill>
                          <a:latin typeface="Arial"/>
                        </a:defRPr>
                      </a:pPr>
                      <a:r>
                        <a:t>Comparateur &amp; annuaire CVC</a:t>
                      </a:r>
                    </a:p>
                    <a:p>
                      <a:pPr algn="l">
                        <a:defRPr sz="850" b="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Génération de leads partagés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F2D3D"/>
                          </a:solidFill>
                          <a:latin typeface="Arial"/>
                        </a:defRPr>
                      </a:pPr>
                      <a:r>
                        <a:t>Abonnement</a:t>
                      </a:r>
                    </a:p>
                    <a:p>
                      <a:pPr algn="ctr">
                        <a:defRPr sz="850" b="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+ commission chantier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✘ NON</a:t>
                      </a:r>
                    </a:p>
                    <a:p>
                      <a:pPr algn="ctr">
                        <a:defRPr sz="850" b="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Multi-pros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F2D3D"/>
                          </a:solidFill>
                          <a:latin typeface="Arial"/>
                        </a:defRPr>
                      </a:pPr>
                      <a:r>
                        <a:t>5–10 %</a:t>
                      </a:r>
                    </a:p>
                    <a:p>
                      <a:pPr algn="ctr">
                        <a:defRPr sz="850" b="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du montant chantier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CA8A04"/>
                          </a:solidFill>
                          <a:latin typeface="Arial"/>
                        </a:defRPr>
                      </a:pPr>
                      <a:r>
                        <a:t>Partiel</a:t>
                      </a:r>
                    </a:p>
                    <a:p>
                      <a:pPr algn="ctr">
                        <a:defRPr sz="850" b="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Peu de contenu local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✘ NON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1F2D3D"/>
                          </a:solidFill>
                          <a:latin typeface="Arial"/>
                        </a:defRPr>
                      </a:pPr>
                      <a:r>
                        <a:t>IZI by EDF</a:t>
                      </a:r>
                    </a:p>
                    <a:p>
                      <a:pPr algn="l">
                        <a:defRPr sz="850" b="1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Engie Home 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1F2D3D"/>
                          </a:solidFill>
                          <a:latin typeface="Arial"/>
                        </a:defRPr>
                      </a:pPr>
                      <a:r>
                        <a:t>Plateforme énergie nationale</a:t>
                      </a:r>
                    </a:p>
                    <a:p>
                      <a:pPr algn="l">
                        <a:defRPr sz="850" b="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Subventions + installation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F2D3D"/>
                          </a:solidFill>
                          <a:latin typeface="Arial"/>
                        </a:defRPr>
                      </a:pPr>
                      <a:r>
                        <a:t>Commission chantier</a:t>
                      </a:r>
                    </a:p>
                    <a:p>
                      <a:pPr algn="ctr">
                        <a:defRPr sz="850" b="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Imposée par le groupe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✘ NON</a:t>
                      </a:r>
                    </a:p>
                    <a:p>
                      <a:pPr algn="ctr">
                        <a:defRPr sz="850" b="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Groupe imposé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F2D3D"/>
                          </a:solidFill>
                          <a:latin typeface="Arial"/>
                        </a:defRPr>
                      </a:pPr>
                      <a:r>
                        <a:t>10–15 %</a:t>
                      </a:r>
                    </a:p>
                    <a:p>
                      <a:pPr algn="ctr">
                        <a:defRPr sz="850" b="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du montant chantier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✘ NON</a:t>
                      </a:r>
                    </a:p>
                    <a:p>
                      <a:pPr algn="ctr">
                        <a:defRPr sz="850" b="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Marque nationale seule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✘ NON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1F2D3D"/>
                          </a:solidFill>
                          <a:latin typeface="Arial"/>
                        </a:defRPr>
                      </a:pPr>
                      <a:r>
                        <a:t>Houzz Pro</a:t>
                      </a:r>
                    </a:p>
                    <a:p>
                      <a:pPr algn="l">
                        <a:defRPr sz="850" b="1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Plateforme internationale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1F2D3D"/>
                          </a:solidFill>
                          <a:latin typeface="Arial"/>
                        </a:defRPr>
                      </a:pPr>
                      <a:r>
                        <a:t>Déco &amp; rénovation</a:t>
                      </a:r>
                    </a:p>
                    <a:p>
                      <a:pPr algn="l">
                        <a:defRPr sz="850" b="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Pas spécialisé CVC France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F2D3D"/>
                          </a:solidFill>
                          <a:latin typeface="Arial"/>
                        </a:defRPr>
                      </a:pPr>
                      <a:r>
                        <a:t>250–600 € HT / mois</a:t>
                      </a:r>
                    </a:p>
                    <a:p>
                      <a:pPr algn="ctr">
                        <a:defRPr sz="850" b="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Sans garantie de leads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CA8A04"/>
                          </a:solidFill>
                          <a:latin typeface="Arial"/>
                        </a:defRPr>
                      </a:pPr>
                      <a:r>
                        <a:t>Partiel</a:t>
                      </a:r>
                    </a:p>
                    <a:p>
                      <a:pPr algn="ctr">
                        <a:defRPr sz="850" b="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Non qualifié CVC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F2D3D"/>
                          </a:solidFill>
                          <a:latin typeface="Arial"/>
                        </a:defRPr>
                      </a:pPr>
                      <a:r>
                        <a:t>0 %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CA8A04"/>
                          </a:solidFill>
                          <a:latin typeface="Arial"/>
                        </a:defRPr>
                      </a:pPr>
                      <a:r>
                        <a:t>Partiel</a:t>
                      </a:r>
                    </a:p>
                    <a:p>
                      <a:pPr algn="ctr">
                        <a:defRPr sz="850" b="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Généraliste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✘ NON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1F2D3D"/>
                          </a:solidFill>
                          <a:latin typeface="Arial"/>
                        </a:defRPr>
                      </a:pPr>
                      <a:r>
                        <a:t>PagesJaunes / Yelp</a:t>
                      </a:r>
                    </a:p>
                    <a:p>
                      <a:pPr algn="l">
                        <a:defRPr sz="850" b="1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Annuaires généralistes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1F2D3D"/>
                          </a:solidFill>
                          <a:latin typeface="Arial"/>
                        </a:defRPr>
                      </a:pPr>
                      <a:r>
                        <a:t>Annuaire classique</a:t>
                      </a:r>
                    </a:p>
                    <a:p>
                      <a:pPr algn="l">
                        <a:defRPr sz="850" b="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Pas de spécialisation CVC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F2D3D"/>
                          </a:solidFill>
                          <a:latin typeface="Arial"/>
                        </a:defRPr>
                      </a:pPr>
                      <a:r>
                        <a:t>0 à 150 € HT / mois</a:t>
                      </a:r>
                    </a:p>
                    <a:p>
                      <a:pPr algn="ctr">
                        <a:defRPr sz="850" b="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Option payante limitée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✘ NON</a:t>
                      </a:r>
                    </a:p>
                    <a:p>
                      <a:pPr algn="ctr">
                        <a:defRPr sz="850" b="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Peu qualifié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F2D3D"/>
                          </a:solidFill>
                          <a:latin typeface="Arial"/>
                        </a:defRPr>
                      </a:pPr>
                      <a:r>
                        <a:t>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✘ NON</a:t>
                      </a:r>
                    </a:p>
                    <a:p>
                      <a:pPr algn="ctr">
                        <a:defRPr sz="850" b="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Pas d'articles, pas d'IA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✘ NON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1F2D3D"/>
                          </a:solidFill>
                          <a:latin typeface="Arial"/>
                        </a:defRPr>
                      </a:pPr>
                      <a:r>
                        <a:t>Google Ads / Meta Ads</a:t>
                      </a:r>
                    </a:p>
                    <a:p>
                      <a:pPr algn="l">
                        <a:defRPr sz="850" b="1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Publicité payante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1F2D3D"/>
                          </a:solidFill>
                          <a:latin typeface="Arial"/>
                        </a:defRPr>
                      </a:pPr>
                      <a:r>
                        <a:t>Référencement payé (SEM)</a:t>
                      </a:r>
                    </a:p>
                    <a:p>
                      <a:pPr algn="l">
                        <a:defRPr sz="850" b="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Arrête si budget coupé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F2D3D"/>
                          </a:solidFill>
                          <a:latin typeface="Arial"/>
                        </a:defRPr>
                      </a:pPr>
                      <a:r>
                        <a:t>300–1 500 € HT / mois</a:t>
                      </a:r>
                    </a:p>
                    <a:p>
                      <a:pPr algn="ctr">
                        <a:defRPr sz="850" b="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Variable selon conc.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CA8A04"/>
                          </a:solidFill>
                          <a:latin typeface="Arial"/>
                        </a:defRPr>
                      </a:pPr>
                      <a:r>
                        <a:t>Partiel</a:t>
                      </a:r>
                    </a:p>
                    <a:p>
                      <a:pPr algn="ctr">
                        <a:defRPr sz="850" b="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Non filtré CVC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F2D3D"/>
                          </a:solidFill>
                          <a:latin typeface="Arial"/>
                        </a:defRPr>
                      </a:pPr>
                      <a:r>
                        <a:t>0 %</a:t>
                      </a:r>
                    </a:p>
                    <a:p>
                      <a:pPr algn="ctr">
                        <a:defRPr sz="850" b="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(coût au clic)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✘ NON</a:t>
                      </a:r>
                    </a:p>
                    <a:p>
                      <a:pPr algn="ctr">
                        <a:defRPr sz="850" b="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Aucun SEO organique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✘ NON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6629400"/>
            <a:ext cx="11612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  <a:latin typeface="Arial"/>
              </a:defRPr>
            </a:pPr>
            <a:r>
              <a:t>* Estimations indicatives basées sur les grilles tarifaires publiques 2025–2026. Commission = prélèvement sur le chiffre d'affaires chantier signé.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Prenez le contrôle de votre Acquisition Locale</a:t>
            </a:r>
          </a:p>
          <a:p>
            <a:pPr>
              <a:spcAft>
                <a:spcPts val="1500"/>
              </a:spcAft>
              <a:defRPr sz="1350">
                <a:solidFill>
                  <a:srgbClr val="D59B2B"/>
                </a:solidFill>
                <a:latin typeface="Arial"/>
              </a:defRPr>
            </a:pPr>
            <a:r>
              <a:t>Boostez vos demandes de climatisation, diagnostics et études thermiques sans intermédiaires.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✔ Abonnement fixe transparent &amp; 0% commission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✔ Valoriser les vrais professionnels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✔ Apporter des contacts réellement qualifiés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✔ Rétablir la confiance entre artisans et clients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✔ Donner aux TPE/PME les outils pour rivaliser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✔ Plus de 58 000 pages et articles référencés sur Google</a:t>
            </a:r>
          </a:p>
          <a:p>
            <a:pPr>
              <a:spcAft>
                <a:spcPts val="1500"/>
              </a:spcAft>
              <a:defRPr sz="1300">
                <a:solidFill>
                  <a:srgbClr val="FFFFFF"/>
                </a:solidFill>
              </a:defRPr>
            </a:pPr>
            <a:r>
              <a:t>✔ Suivi en temps réel des leads et impressions</a:t>
            </a:r>
          </a:p>
          <a:p>
            <a:pPr>
              <a:defRPr sz="1250" b="1">
                <a:solidFill>
                  <a:srgbClr val="D59B2B"/>
                </a:solidFill>
                <a:latin typeface="Arial"/>
              </a:defRPr>
            </a:pPr>
            <a:r>
              <a:t>Rejoignez le réseau : www.gainable.fr | www.gainable.be | www.gainable.ch</a:t>
            </a:r>
            <a:br/>
            <a:r>
              <a:t>Contact commercial : contact@gainable.ch</a:t>
            </a:r>
          </a:p>
        </p:txBody>
      </p:sp>
      <p:pic>
        <p:nvPicPr>
          <p:cNvPr id="3" name="Picture 2" descr="espace_pro_conclusion_17651408560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295" y="0"/>
            <a:ext cx="54864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